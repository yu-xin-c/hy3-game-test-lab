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cf08924534378" /><Relationship Type="http://schemas.openxmlformats.org/officeDocument/2006/relationships/extended-properties" Target="/docProps/app.xml" Id="R3aa0fd24c95c470a" /><Relationship Type="http://schemas.openxmlformats.org/officeDocument/2006/relationships/officeDocument" Target="/ppt/presentation.xml" Id="R45bf8e850ac34b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80372f4b24fcf"/>
  </p:sldMasterIdLst>
  <p:notesMasterIdLst>
    <p:notesMasterId xmlns:r="http://schemas.openxmlformats.org/officeDocument/2006/relationships" r:id="Rfb4b9dd85c1b4218"/>
  </p:notesMasterIdLst>
  <p:sldIdLst>
    <p:sldId xmlns:r="http://schemas.openxmlformats.org/officeDocument/2006/relationships" id="256" r:id="R96de9de9ed294485"/>
    <p:sldId xmlns:r="http://schemas.openxmlformats.org/officeDocument/2006/relationships" id="257" r:id="Ra2bd689372b74b58"/>
    <p:sldId xmlns:r="http://schemas.openxmlformats.org/officeDocument/2006/relationships" id="258" r:id="Ree5ea5341d944eb8"/>
    <p:sldId xmlns:r="http://schemas.openxmlformats.org/officeDocument/2006/relationships" id="259" r:id="R6bf96c75f31d45a3"/>
    <p:sldId xmlns:r="http://schemas.openxmlformats.org/officeDocument/2006/relationships" id="260" r:id="R309d305e1ec844af"/>
    <p:sldId xmlns:r="http://schemas.openxmlformats.org/officeDocument/2006/relationships" id="261" r:id="R116fca0c53bc4ae1"/>
    <p:sldId xmlns:r="http://schemas.openxmlformats.org/officeDocument/2006/relationships" id="262" r:id="R0e973ee1947d42e8"/>
    <p:sldId xmlns:r="http://schemas.openxmlformats.org/officeDocument/2006/relationships" id="263" r:id="R569ed3c385cb49af"/>
    <p:sldId xmlns:r="http://schemas.openxmlformats.org/officeDocument/2006/relationships" id="264" r:id="R4f68fa3b71084969"/>
    <p:sldId xmlns:r="http://schemas.openxmlformats.org/officeDocument/2006/relationships" id="265" r:id="R8bd15f02d2d14c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cb993c92e4553" /><Relationship Type="http://schemas.openxmlformats.org/officeDocument/2006/relationships/slideMaster" Target="/ppt/slideMasters/slideMaster1.xml" Id="R0df80372f4b24fcf" /><Relationship Type="http://schemas.openxmlformats.org/officeDocument/2006/relationships/notesMaster" Target="/ppt/notesMasters/notesMaster1.xml" Id="Rfb4b9dd85c1b4218" /><Relationship Type="http://schemas.openxmlformats.org/officeDocument/2006/relationships/presProps" Target="/ppt/presProps.xml" Id="R1479c6fea31e483d" /><Relationship Type="http://schemas.openxmlformats.org/officeDocument/2006/relationships/tableStyles" Target="/ppt/tableStyles.xml" Id="R03164a6f1a464b5d" /><Relationship Type="http://schemas.openxmlformats.org/officeDocument/2006/relationships/slide" Target="/ppt/slides/slide1.xml" Id="R96de9de9ed294485" /><Relationship Type="http://schemas.openxmlformats.org/officeDocument/2006/relationships/slide" Target="/ppt/slides/slide2.xml" Id="Ra2bd689372b74b58" /><Relationship Type="http://schemas.openxmlformats.org/officeDocument/2006/relationships/slide" Target="/ppt/slides/slide3.xml" Id="Ree5ea5341d944eb8" /><Relationship Type="http://schemas.openxmlformats.org/officeDocument/2006/relationships/slide" Target="/ppt/slides/slide4.xml" Id="R6bf96c75f31d45a3" /><Relationship Type="http://schemas.openxmlformats.org/officeDocument/2006/relationships/slide" Target="/ppt/slides/slide5.xml" Id="R309d305e1ec844af" /><Relationship Type="http://schemas.openxmlformats.org/officeDocument/2006/relationships/slide" Target="/ppt/slides/slide6.xml" Id="R116fca0c53bc4ae1" /><Relationship Type="http://schemas.openxmlformats.org/officeDocument/2006/relationships/slide" Target="/ppt/slides/slide7.xml" Id="R0e973ee1947d42e8" /><Relationship Type="http://schemas.openxmlformats.org/officeDocument/2006/relationships/slide" Target="/ppt/slides/slide8.xml" Id="R569ed3c385cb49af" /><Relationship Type="http://schemas.openxmlformats.org/officeDocument/2006/relationships/slide" Target="/ppt/slides/slide9.xml" Id="R4f68fa3b71084969" /><Relationship Type="http://schemas.openxmlformats.org/officeDocument/2006/relationships/slide" Target="/ppt/slides/slide10.xml" Id="R8bd15f02d2d1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28ad1c2bb2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cbfd09ad014b60" /><Relationship Type="http://schemas.openxmlformats.org/officeDocument/2006/relationships/notesMaster" Target="/ppt/notesMasters/notesMaster1.xml" Id="Rbe791855598a4f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a22ae41f24496" /><Relationship Type="http://schemas.openxmlformats.org/officeDocument/2006/relationships/notesMaster" Target="/ppt/notesMasters/notesMaster1.xml" Id="R0bd00f028731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499bf95e841de" /><Relationship Type="http://schemas.openxmlformats.org/officeDocument/2006/relationships/notesMaster" Target="/ppt/notesMasters/notesMaster1.xml" Id="R76bd6ba9cc7e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5eb55defd04127" /><Relationship Type="http://schemas.openxmlformats.org/officeDocument/2006/relationships/notesMaster" Target="/ppt/notesMasters/notesMaster1.xml" Id="R04909009dcfb47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01c00547b24cb5" /><Relationship Type="http://schemas.openxmlformats.org/officeDocument/2006/relationships/notesMaster" Target="/ppt/notesMasters/notesMaster1.xml" Id="R441213833832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c6c576c97e4b5c" /><Relationship Type="http://schemas.openxmlformats.org/officeDocument/2006/relationships/notesMaster" Target="/ppt/notesMasters/notesMaster1.xml" Id="R0d37adfa787f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bf17a13cfa437d" /><Relationship Type="http://schemas.openxmlformats.org/officeDocument/2006/relationships/notesMaster" Target="/ppt/notesMasters/notesMaster1.xml" Id="Rd4adae7fb08044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394b24154148c5" /><Relationship Type="http://schemas.openxmlformats.org/officeDocument/2006/relationships/notesMaster" Target="/ppt/notesMasters/notesMaster1.xml" Id="Rdb01ae39c9b8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394fa917fb4a0c" /><Relationship Type="http://schemas.openxmlformats.org/officeDocument/2006/relationships/notesMaster" Target="/ppt/notesMasters/notesMaster1.xml" Id="Rd35e66fb65ed47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939945e08043a0" /><Relationship Type="http://schemas.openxmlformats.org/officeDocument/2006/relationships/notesMaster" Target="/ppt/notesMasters/notesMaster1.xml" Id="R3fa4560dede5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scope。题集来源与分层依据见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过程定义与证据追溯：docs/process-evaluation.md、reports/analysis-report.md。公开编号方案先于代码；工具日志需与最终文件一致。观察桥只收集证据，玩家操作来自真实浏览器。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粒子乐队：results/process-15-v1/particle-orchestra/score-plan-claim.json；results/process-15-v1/PROCESS-VALIDITY.md。公开规则每次 +25；方案和实现 +100 额外终局分；三次 Chromium 终分 200。这里只核对选定计分主张，不把整份方案当已穷尽验证。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位置不一一对应：docs/process-evaluation.md。浏览器首错是首个可观察偏离，方案首错是公开主张首个有独立反例的步骤，代码写入只作来源追溯，不能证明内部推理首错。题面歧义或判据风险不记作确定游戏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difficulty_rows 与 difficulty_boundary。各难度分母和未知项未合并。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supported_model_finding_types；分类口径与限制见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来源：results/process-15-v1/particle-orchestra/score-plan-claim.json。三次浏览器终局均为 200；标准 100 仅针对选出的公开计分断言，不代表整份方案穷尽标准。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6a8c393c748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da3d0c0924046" /><Relationship Type="http://schemas.openxmlformats.org/officeDocument/2006/relationships/slideLayout" Target="/ppt/slideLayouts/slideLayout1.xml" Id="Rf70970d63e8e4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0970d63e8e4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ffa638780486e" /><Relationship Type="http://schemas.openxmlformats.org/officeDocument/2006/relationships/image" Target="/ppt/media/image.png" Id="R6671c678c23f48c4" /><Relationship Type="http://schemas.openxmlformats.org/officeDocument/2006/relationships/notesSlide" Target="/ppt/notesSlides/notesSlide1.xml" Id="R2bc569d91b2348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e1bdad56c4e92" /><Relationship Type="http://schemas.openxmlformats.org/officeDocument/2006/relationships/chart" Target="/ppt/slides/charts/chart1.xml" Id="R33e4a523fa554a9c" /><Relationship Type="http://schemas.openxmlformats.org/officeDocument/2006/relationships/image" Target="/ppt/media/image2.png" Id="R14aad3051d154274" /><Relationship Type="http://schemas.openxmlformats.org/officeDocument/2006/relationships/image" Target="/ppt/media/image3.png" Id="Rfaa44f7ca5844c48" /><Relationship Type="http://schemas.openxmlformats.org/officeDocument/2006/relationships/image" Target="/ppt/media/image4.png" Id="R136e53a5329a48e5" /><Relationship Type="http://schemas.openxmlformats.org/officeDocument/2006/relationships/notesSlide" Target="/ppt/notesSlides/notesSlide2.xml" Id="Rba3dd8da983b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f4e0c921849d1" /><Relationship Type="http://schemas.openxmlformats.org/officeDocument/2006/relationships/notesSlide" Target="/ppt/notesSlides/notesSlide3.xml" Id="Rf114a85eae1f4f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354fc150140fe" /><Relationship Type="http://schemas.openxmlformats.org/officeDocument/2006/relationships/notesSlide" Target="/ppt/notesSlides/notesSlide4.xml" Id="R31aa9578cfd54a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f29d88d54012" /><Relationship Type="http://schemas.openxmlformats.org/officeDocument/2006/relationships/image" Target="/ppt/media/image5.png" Id="R39eab88cd1de4670" /><Relationship Type="http://schemas.openxmlformats.org/officeDocument/2006/relationships/notesSlide" Target="/ppt/notesSlides/notesSlide5.xml" Id="R8152cb2f374644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fd942b8704f21" /><Relationship Type="http://schemas.openxmlformats.org/officeDocument/2006/relationships/chart" Target="/ppt/slides/charts/chart2.xml" Id="R5d275a9c09424c57" /><Relationship Type="http://schemas.openxmlformats.org/officeDocument/2006/relationships/notesSlide" Target="/ppt/notesSlides/notesSlide6.xml" Id="Rcdcbad91b50c4d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1eeef6f34215" /><Relationship Type="http://schemas.openxmlformats.org/officeDocument/2006/relationships/chart" Target="/ppt/slides/charts/chart3.xml" Id="R92b88423b4494fc6" /><Relationship Type="http://schemas.openxmlformats.org/officeDocument/2006/relationships/notesSlide" Target="/ppt/notesSlides/notesSlide7.xml" Id="R4472336c447946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739d291ce4a35" /><Relationship Type="http://schemas.openxmlformats.org/officeDocument/2006/relationships/chart" Target="/ppt/slides/charts/chart4.xml" Id="R590913e861f544f4" /><Relationship Type="http://schemas.openxmlformats.org/officeDocument/2006/relationships/notesSlide" Target="/ppt/notesSlides/notesSlide8.xml" Id="R3d44e849e12140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34f16bc114518" /><Relationship Type="http://schemas.openxmlformats.org/officeDocument/2006/relationships/chart" Target="/ppt/slides/charts/chart5.xml" Id="R0a84bc78b9f64511" /><Relationship Type="http://schemas.openxmlformats.org/officeDocument/2006/relationships/notesSlide" Target="/ppt/notesSlides/notesSlide9.xml" Id="R7a5f0cdd62424f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cf5dc06964cd8" /><Relationship Type="http://schemas.openxmlformats.org/officeDocument/2006/relationships/image" Target="/ppt/media/image6.png" Id="R8c3e7bd7580b480b" /><Relationship Type="http://schemas.openxmlformats.org/officeDocument/2006/relationships/notesSlide" Target="/ppt/notesSlides/notesSlide10.xml" Id="Rcad73b505d6d42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题数</c:v>
          </c:tx>
          <c:spPr>
            <a:solidFill xmlns:a="http://schemas.openxmlformats.org/drawingml/2006/main">
              <a:srgbClr val="18212B"/>
            </a:solidFill>
          </c:spPr>
          <c:cat>
            <c:strRef>
              <c:f>'Chart Data'!$A$2:$A$5</c:f>
              <c:strCache>
                <c:ptCount val="4"/>
                <c:pt idx="0">
                  <c:v>动作</c:v>
                </c:pt>
                <c:pt idx="1">
                  <c:v>益智</c:v>
                </c:pt>
                <c:pt idx="2">
                  <c:v>创意</c:v>
                </c:pt>
                <c:pt idx="3">
                  <c:v>模拟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8212B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判正确</c:v>
          </c:tx>
          <c:spPr>
            <a:solidFill xmlns:a="http://schemas.openxmlformats.org/drawingml/2006/main">
              <a:srgbClr val="2B6CB0"/>
            </a:solidFill>
          </c:spPr>
          <c:cat>
            <c:strRef>
              <c:f>'Chart Data'!$A$2:$A$3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v>判错误</c:v>
          </c:tx>
          <c:spPr>
            <a:solidFill xmlns:a="http://schemas.openxmlformats.org/drawingml/2006/main">
              <a:srgbClr val="C05640"/>
            </a:solidFill>
          </c:spPr>
          <c:cat>
            <c:strRef>
              <c:f>'Chart Data'!$C$2:$C$3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</c:v>
                </c:pt>
                <c:pt idx="1">
                  <c:v>6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9DA39D"/>
            </a:solidFill>
          </c:spPr>
          <c:cat>
            <c:strRef>
              <c:f>'Chart Data'!$E$2:$E$3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8212B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最终判正确</c:v>
          </c:tx>
          <c:spPr>
            <a:solidFill xmlns:a="http://schemas.openxmlformats.org/drawingml/2006/main">
              <a:srgbClr val="63B3ED"/>
            </a:solidFill>
          </c:spPr>
          <c:cat>
            <c:strRef>
              <c:f>'Chart Data'!$A$2:$A$4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最终判错误</c:v>
          </c:tx>
          <c:spPr>
            <a:solidFill xmlns:a="http://schemas.openxmlformats.org/drawingml/2006/main">
              <a:srgbClr val="C05640"/>
            </a:solidFill>
          </c:spPr>
          <c:cat>
            <c:strRef>
              <c:f>'Chart Data'!$C$2:$C$4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B7474"/>
            </a:solidFill>
          </c:spPr>
          <c:cat>
            <c:strRef>
              <c:f>'Chart Data'!$E$2:$E$4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102A4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FFFFF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102A43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标记条数</c:v>
          </c:tx>
          <c:spPr>
            <a:solidFill xmlns:a="http://schemas.openxmlformats.org/drawingml/2006/main">
              <a:srgbClr val="C05640"/>
            </a:solidFill>
          </c:spPr>
          <c:cat>
            <c:strRef>
              <c:f>'Chart Data'!$A$2:$A$4</c:f>
              <c:strCache>
                <c:ptCount val="3"/>
                <c:pt idx="0">
                  <c:v>实现不符</c:v>
                </c:pt>
                <c:pt idx="1">
                  <c:v>错误假设</c:v>
                </c:pt>
                <c:pt idx="2">
                  <c:v>题意误读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8212B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终局分数</c:v>
          </c:tx>
          <c:spPr>
            <a:solidFill xmlns:a="http://schemas.openxmlformats.org/drawingml/2006/main">
              <a:srgbClr val="C0564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3B3E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公开标准</c:v>
                </c:pt>
                <c:pt idx="1">
                  <c:v>方案预计</c:v>
                </c:pt>
                <c:pt idx="2">
                  <c:v>试玩一</c:v>
                </c:pt>
                <c:pt idx="3">
                  <c:v>试玩二</c:v>
                </c:pt>
                <c:pt idx="4">
                  <c:v>试玩三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102A43"/>
        </a:solidFill>
      </c:spPr>
    </c:plotArea>
    <c:plotVisOnly val="1"/>
  </c:chart>
  <c:spPr>
    <a:solidFill xmlns:a="http://schemas.openxmlformats.org/drawingml/2006/main">
      <a:srgbClr val="102A4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1c678c23f48c4"/>
          <a:srcRect xmlns:a="http://schemas.openxmlformats.org/drawingml/2006/main" l="20750" t="0" r="20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CCF33-FC08-4BFA-9849-719B271D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09EEF-FAC4-4296-B107-2C37723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435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806C8-10A9-4476-9ACF-92213561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3ED"/>
          </a:solidFill>
          <a:ln xmlns:a="http://schemas.openxmlformats.org/drawingml/2006/main" w="0">
            <a:solidFill>
              <a:srgbClr val="63B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049B0-3016-45CB-8BAB-48292667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犀牛鸟开源实战任务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D52F1-9AEA-4EE3-8140-7B5584AE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基于 Hy3 的游戏生成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过程评估与错误定位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2FAB5-961A-47A0-92D9-1962C5D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15 个浏览器游戏任务的实证研究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B36EF-A337-4DFC-B68F-BCF20F54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1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27A7F-FFAE-4DB9-94AA-193D89BF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研究对象：混元生成的游戏方案、代码与试玩记录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CC888-7D6E-49FA-ABF9-A136A61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5E0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D5E0E8"/>
                </a:solidFill>
                <a:latin typeface="Arial Unicode MS"/>
                <a:ea typeface="Arial Unicode MS"/>
                <a:cs typeface="Arial Unicode MS"/>
              </a:rPr>
              <a:t>方法：规则校验、浏览器真实交互和混元复核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559AA-A13A-4C7B-AC77-E75BAAC1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9BBC8"/>
                </a:solidFill>
                <a:latin typeface="Arial Unicode MS"/>
                <a:ea typeface="Arial Unicode MS"/>
                <a:cs typeface="Arial Unicode MS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394725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E1CB8-00E4-43C7-B2F2-E4545996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751E2-D056-4EF2-B51C-4D3D2721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2C193-FD32-4A96-9007-A374F915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评测题集与难度分层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087BD-B086-4D53-8CA1-716A84DC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6ACA2-5C20-427F-B4A1-C487F83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个固定任务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A3CE8-6E68-41A2-86A0-664E9B5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基础 4 题</a:t>
            </a:r>
          </a:p>
          <a:p xmlns:a="http://schemas.openxmlformats.org/drawingml/2006/main">
            <a:pPr>
              <a:defRPr sz="18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中等 6 题</a:t>
            </a:r>
          </a:p>
          <a:p xmlns:a="http://schemas.openxmlformats.org/drawingml/2006/main">
            <a:pPr>
              <a:defRPr sz="18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高难 5 题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333750" y="1762125"/>
          <a:ext xmlns:a="http://schemas.openxmlformats.org/drawingml/2006/main" cx="7810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e4a523fa554a9c"/>
          </a:graphicData>
        </a:graphic>
      </p:graphicFrame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ad3051d154274"/>
          <a:srcRect xmlns:a="http://schemas.openxmlformats.org/drawingml/2006/main" l="0" t="19136" r="0" b="19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5048250"/>
            <a:ext cx="2400300" cy="1200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44f7ca5844c48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5048250"/>
            <a:ext cx="2400300" cy="1200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38619-E5C5-4AD3-AF0A-00C70C7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953125"/>
            <a:ext cx="2400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E"/>
          </a:solidFill>
          <a:ln xmlns:a="http://schemas.openxmlformats.org/drawingml/2006/main" w="0">
            <a:solidFill>
              <a:srgbClr val="20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936B1-2697-40E5-9491-88835BE8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000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钥匙、门与出口地图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e53a5329a48e5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5048250"/>
            <a:ext cx="2400300" cy="1200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D072A-2317-408B-A4EA-54DEA2B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不含摄像头、视频和语音任务；按冻结清单顺序选取，不做代表性抽样。</a:t>
            </a:r>
          </a:p>
        </p:txBody>
      </p:sp>
    </p:spTree>
    <p:extLst>
      <p:ext uri="{BB962C8B-B14F-4D97-AF65-F5344CB8AC3E}">
        <p14:creationId xmlns:p14="http://schemas.microsoft.com/office/powerpoint/2010/main" val="1420184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7157E-2393-4FAF-945B-E61376B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研究方法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816DA-E86B-42D0-AC61-A19BA4BF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44CB-A4CC-4FCF-83FE-99CACA33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过程评估对象与证据链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F3196-E800-4987-BB61-1907C9D4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评估对象限于可观测证据，包括生成方案、文件写入记录和浏览器试玩结果。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60E4A-85B0-4675-9C4F-05EDE7D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046F4-D960-4A5C-9BA4-A9F4C67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66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任务规范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7C176-30BD-4BF7-A198-E5770A9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764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公开玩法要求提供给混元，私有检查在生成后执行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381CB-5C9A-49F7-80D9-D3041643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19400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4374D-97D8-49DB-A6EC-3DCF52E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9EEF3-E7BB-41A0-9546-2A188E3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28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生成方案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5746D-2EA0-4094-B9B8-BB1F594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每一步记录实现目标、操作条件和预期结果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DE676-9116-46F1-8744-DFA44CAF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81425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FFD9F-7DF9-4F6D-B939-52BA7302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AF99B-FF0B-44EF-9BB0-240E258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实现记录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8725F-FE50-475C-B042-3F3143D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保存文件写入、修改顺序和最终文件哈希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8FF45-EF76-4F10-8D50-7B040EC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43450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FB353-4A0D-4814-BC5B-A70413E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6CB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B6CB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7EE38-5F09-49B7-A8EE-9D8D3AA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530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执行证据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D74EE-358B-4ADC-B687-432EE3C9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浏览器真实输入寻找反例，混元复核方案和代码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D98EA-8F8B-4B99-B536-722B64A9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05475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3483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FF7DB-2830-45C6-B5D6-B9D52DBB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47DA7-D1DD-443D-B51A-EF95D35B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1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82C1B-574E-4036-8B14-44767B77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单条方案主张的验证过程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599CF-C9E9-4C4A-89CE-9BD79DA4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E0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D5E0E8"/>
                </a:solidFill>
                <a:latin typeface="Arial Unicode MS"/>
                <a:ea typeface="Arial Unicode MS"/>
                <a:cs typeface="Arial Unicode MS"/>
              </a:rPr>
              <a:t>示例：粒子乐队终局计分。四次正确输入，每次增加 25 分，公开规则对应终分 100。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FFF4C-0A06-43AD-810B-BF9C9093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239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0C"/>
          </a:solidFill>
          <a:ln xmlns:a="http://schemas.openxmlformats.org/drawingml/2006/main" w="9525">
            <a:solidFill>
              <a:srgbClr val="4149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66415-9460-4E2C-97F6-8E892614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90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浏览器终局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749B6-AFEA-4817-A84A-1909AA45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200 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98780-F4B6-42B1-8386-82DA527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24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三次结果一致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1964B-5992-4427-ADBD-8C331289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公开规则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E6202-6BBF-4FE2-87FD-BDF7D6F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2FDBC-286D-40B9-ABB5-EC411B5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 × 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57E60-266D-4FD9-A52D-99D0477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标准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94B62-03EA-4BBF-8497-80BF82ED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方案第 3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63669-842E-49EB-B15C-73FFDC2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56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ED14E-2FDB-4434-AACE-A2896375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预计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E700B-DAF6-41EC-8CBE-18A3460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第一次写错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09AFD-8DF9-4CDD-BAE1-8E0DD0F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代码实现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AE195-AC6A-4CD3-8664-53A98DF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4E401-3810-4646-8618-FDAE6EC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又加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F76DC-9C7A-4E0A-AAAE-CA922B9F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沿用错误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44F0A-96A9-42C4-8348-64348BB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浏览器试玩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F56AD-AC92-4CBA-BB98-3CC133F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79C4E-4CA8-4BA9-85CB-03B436B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200 / 200 / 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CA0D-4307-4F89-957C-210CC6C5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三次复现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11DE7-92AB-49DF-AA04-49A732A9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验证结果：方案第 3 步首次偏离公开规则，后续代码继续采用该错误计分。</a:t>
            </a:r>
          </a:p>
        </p:txBody>
      </p:sp>
    </p:spTree>
    <p:extLst>
      <p:ext uri="{BB962C8B-B14F-4D97-AF65-F5344CB8AC3E}">
        <p14:creationId xmlns:p14="http://schemas.microsoft.com/office/powerpoint/2010/main" val="876983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E92E2-76EC-450F-800E-6A73FC3D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错误定位方法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79D1-E4C9-404A-9470-F8A0502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58896-8FEB-40D5-9B41-01D317A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错误定位层次与检查内容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ab88cd1de4670"/>
          <a:srcRect xmlns:a="http://schemas.openxmlformats.org/drawingml/2006/main" l="0" t="5567" r="0" b="55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562100"/>
            <a:ext cx="447675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C021D-0E4F-48C7-B369-6634C35A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621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0E"/>
          </a:solidFill>
          <a:ln xmlns:a="http://schemas.openxmlformats.org/drawingml/2006/main" w="0">
            <a:solidFill>
              <a:srgbClr val="03080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197F3-2B04-4F8A-80F0-A3C9AADD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911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0E"/>
          </a:solidFill>
          <a:ln xmlns:a="http://schemas.openxmlformats.org/drawingml/2006/main" w="0">
            <a:solidFill>
              <a:srgbClr val="03080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5095B-7911-4DA7-9D96-D006C4F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0E"/>
          </a:solidFill>
          <a:ln xmlns:a="http://schemas.openxmlformats.org/drawingml/2006/main" w="0">
            <a:solidFill>
              <a:srgbClr val="03080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912FE-EA95-4DEF-B439-FD8EEA38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24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三次跳跃失败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4D5C5-4708-4D84-A1DC-94D2228B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题意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1AF97-B42C-46A7-A98D-188218C2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胜负、计分、时序、存档有没有读错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0CA09-E102-4B8E-A3D1-F29266F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D44F7-FBDD-44A5-A862-459BBA9B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D4D76-A2F0-4B0E-BF52-37FFB0B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70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预期结果能不能由公开规则推出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76B42-9427-4D35-A1FF-BE909E3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7FB0D-F345-42A6-8B6A-8934ABE6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40A03-0EBA-4246-BA44-81770B4E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代码有没有兑现动作、状态变化和边界条件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32F87-A9F6-4313-8CCA-B12A12E4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894EF-FD8C-4338-B16E-74329D4F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判据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B8DD5-42D6-4CBD-A3EF-6A07B01D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检查本身有没有添加题面没有写的限制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E9924-3C5F-4941-9556-BD184D7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FC8F7-4F20-474C-91B7-FB000775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680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EEA37-8259-46F2-B427-1334976C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42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定位单位：浏览器操作序号、方案步骤编号和代码写入记录</a:t>
            </a:r>
          </a:p>
        </p:txBody>
      </p:sp>
    </p:spTree>
    <p:extLst>
      <p:ext uri="{BB962C8B-B14F-4D97-AF65-F5344CB8AC3E}">
        <p14:creationId xmlns:p14="http://schemas.microsoft.com/office/powerpoint/2010/main" val="2127351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D139B-C67C-48AA-88C0-7C7DE8B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6C21B-FE89-45C0-945B-DB4B8689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8260D-4321-4AE9-95D3-CCC57A7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最终结果与过程结果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275a9c09424c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E14A4-3A32-4FC9-90B0-E8F272A4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4/11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16D65-0EB3-45BD-BFCD-357E636F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最终游戏判正确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C47E7-E00C-45CA-AF0C-A43F4D87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6/12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82870-37E0-41DD-AF2C-214D62C2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公开方案判成立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6B4F0-820D-4A43-81FE-F1FDB3D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14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A4629-CC4C-445D-9354-960737E9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05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声明文件合规 8/15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FA05-5F87-4372-A05A-3B55BCA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435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原始游玩路径终局通过 14/47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B1324-DEAC-4FA9-A568-DA7CAA33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口径说明：图中为混元复核意见与执行记录，尚未完成全量独立标注。</a:t>
            </a:r>
          </a:p>
        </p:txBody>
      </p:sp>
    </p:spTree>
    <p:extLst>
      <p:ext uri="{BB962C8B-B14F-4D97-AF65-F5344CB8AC3E}">
        <p14:creationId xmlns:p14="http://schemas.microsoft.com/office/powerpoint/2010/main" val="510810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A9A52-5E5B-4FCF-8DD1-F243E930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分层结果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60733-5976-4FF0-8415-B7BF704F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1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F9875-74B8-49A0-B026-89873042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按难度分层的评测结果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7667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b88423b4494fc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88C03-7E06-4D9F-B202-AA74BAC2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24E0B-F6EC-4FEF-ACB1-61FD20D7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基础方案判成立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8FC5E-A654-4A67-A3FD-0B325958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62ADD-2375-4876-BC91-251592E0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中等方案判成立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467BB-F76D-4710-8020-7EB0B097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3/5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128C7-541D-4DEF-8B80-2C86625A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高难方案判成立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E1092-07E3-43B1-9CF5-F81C0C5C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CB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CBC8"/>
                </a:solidFill>
                <a:latin typeface="Arial Unicode MS"/>
                <a:ea typeface="Arial Unicode MS"/>
                <a:cs typeface="Arial Unicode MS"/>
              </a:rPr>
              <a:t>题量少，而且每档玩法和检查强度不同；这里只报告分层结果。</a:t>
            </a:r>
          </a:p>
        </p:txBody>
      </p:sp>
    </p:spTree>
    <p:extLst>
      <p:ext uri="{BB962C8B-B14F-4D97-AF65-F5344CB8AC3E}">
        <p14:creationId xmlns:p14="http://schemas.microsoft.com/office/powerpoint/2010/main" val="2395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72BC1-8529-4710-9709-06CE3C99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错误分析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6D72F-6B8D-419E-A84D-77223E1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F22CF-1ECB-46D8-BBD1-B788F059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过程错误类型分布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2A4F1-3B35-47B6-BBC3-3695592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3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E4771-54ED-4A1D-8303-38DB3004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条实现不符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1B114-99BF-4F05-98E0-48B7131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D6225-EEB9-4BF9-83D8-AD550D0A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错误假设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61E75-D414-47B5-9AC6-0535A77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36FF3-0CE4-4CE2-BC6B-D72D6DA8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题意误读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762375" y="180975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0913e861f544f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65623-CD4A-4325-B5C7-C5281DC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FCE1A-FBD3-4AB2-8515-8C4EAA5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同一题可以有多条标记。图中统计混元复核标签，尚未逐条独立核验。</a:t>
            </a:r>
          </a:p>
        </p:txBody>
      </p:sp>
    </p:spTree>
    <p:extLst>
      <p:ext uri="{BB962C8B-B14F-4D97-AF65-F5344CB8AC3E}">
        <p14:creationId xmlns:p14="http://schemas.microsoft.com/office/powerpoint/2010/main" val="1360484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23620-22AD-4D6A-AC1F-F7064BFE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案例分析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C3A53-E78B-4FB0-BEAD-A766F04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1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2EC62-A4CB-4E36-860E-531D45C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计分错误的可复现实验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84bc78b9f6451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96440-F3B2-4972-82C0-149AA2F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第 3 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76B3D-576A-446A-B768-3B8C0FC8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方案第一次失真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8F5A6-F23C-4F18-8606-7BEB51D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2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4D6CC-EA0A-460D-8DE9-30AAA62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63B3ED"/>
                </a:solidFill>
                <a:latin typeface="Arial Unicode MS"/>
                <a:ea typeface="Arial Unicode MS"/>
                <a:cs typeface="Arial Unicode MS"/>
              </a:rPr>
              <a:t>四次输入 ×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FFFEA-A192-4546-8305-8A821B12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3382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rPr>
              <a:t>公开标准可直接算出 100。</a:t>
            </a:r>
          </a:p>
          <a:p xmlns:a="http://schemas.openxmlformats.org/drawingml/2006/main">
            <a:pPr>
              <a:def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rPr>
              <a:t>生成代码又额外加 100，三次浏览器试玩都复现为 200。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5EDD-9103-4F47-A7D2-EC921D29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混元判断“过程有错”并定位到第 3 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2B731-F274-4E06-A32F-155B30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3B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AB3B0"/>
                </a:solidFill>
                <a:latin typeface="Arial Unicode MS"/>
                <a:ea typeface="Arial Unicode MS"/>
                <a:cs typeface="Arial Unicode MS"/>
              </a:rPr>
              <a:t>验证范围限于该公开计分主张，未覆盖整份方案。</a:t>
            </a:r>
          </a:p>
        </p:txBody>
      </p:sp>
    </p:spTree>
    <p:extLst>
      <p:ext uri="{BB962C8B-B14F-4D97-AF65-F5344CB8AC3E}">
        <p14:creationId xmlns:p14="http://schemas.microsoft.com/office/powerpoint/2010/main" val="459778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8363E-DF6A-4FF8-B9A4-67A8107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有效性验证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398DF-FC35-41C6-9EB8-531A100E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4E8B3-3929-4433-8673-E65F29B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错误定位准确性与补充样本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41135-8C3E-40B4-9824-E9AC3C2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150" b="1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6FCAA-B84A-4EEF-999D-39FD6928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定位准确率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8462B-BD58-49A0-8A72-40A555E9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194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同时检出并定位 / 已知错步样本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A5D15-B595-4817-89EA-AC28CBC0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钥匙开门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24679-9296-48C4-B4D9-373B0C3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0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标准第 1 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078E0-A8CA-477B-B6FC-7784620B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02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给对步骤，却判方案正确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6485F-EE03-4D9D-BA9F-06158BC4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68AE1-E64A-4F24-8189-009B8DDA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联机五子棋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D718A-1CE3-4C03-87CC-5EF805E8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标准第 4 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8DD30-126C-4F1C-9B91-68DFC0A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05640"/>
                </a:solidFill>
                <a:latin typeface="Arial Unicode MS"/>
                <a:ea typeface="Arial Unicode MS"/>
                <a:cs typeface="Arial Unicode MS"/>
              </a:rPr>
              <a:t>判有错，却没给出步骤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091A2-4E74-4D39-8B12-19B24751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575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0943B-6BF0-445E-9053-18D8566E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粒子乐队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89BB9-1A1B-4468-A8D1-D3BDE22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标准第 3 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3012C-9B74-4B03-932C-9DC8424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B6CB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B6CB0"/>
                </a:solidFill>
                <a:latin typeface="Arial Unicode MS"/>
                <a:ea typeface="Arial Unicode MS"/>
                <a:cs typeface="Arial Unicode MS"/>
              </a:rPr>
              <a:t>判有错，也给对步骤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38F4D-521B-4077-B8C1-A8227755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e7bd7580b480b"/>
          <a:srcRect xmlns:a="http://schemas.openxmlformats.org/drawingml/2006/main" l="0" t="6566" r="0" b="6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895725"/>
            <a:ext cx="3143250" cy="2047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FD790-1F00-48EC-A64E-A8A943C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E"/>
          </a:solidFill>
          <a:ln xmlns:a="http://schemas.openxmlformats.org/drawingml/2006/main" w="0">
            <a:solidFill>
              <a:srgbClr val="2020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9856F-CC59-40CC-AE01-16D3031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另一个重要样本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2EF91-9615-40B3-A7DC-53108054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8212B"/>
                </a:solidFill>
                <a:latin typeface="Arial Unicode MS"/>
                <a:ea typeface="Arial Unicode MS"/>
                <a:cs typeface="Arial Unicode MS"/>
              </a:rPr>
              <a:t>二〇四八核心玩法可通关，但方案第三步仍然有错。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E1C14-13F3-45CB-8B67-4EE0B9E2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6"/>
                </a:solidFill>
                <a:latin typeface="Arial Unicode MS"/>
                <a:ea typeface="Arial Unicode MS"/>
                <a:cs typeface="Arial Unicode MS"/>
              </a:rPr>
              <a:t>补充复核：真问题 1/1，误报 0/1。样本太少，不能估计总体误报率。</a:t>
            </a:r>
          </a:p>
        </p:txBody>
      </p:sp>
    </p:spTree>
    <p:extLst>
      <p:ext uri="{BB962C8B-B14F-4D97-AF65-F5344CB8AC3E}">
        <p14:creationId xmlns:p14="http://schemas.microsoft.com/office/powerpoint/2010/main" val="398267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2026-09-18T13:50:27.6670000Z</dcterms:created>
  <dcterms:modified xsi:type="dcterms:W3CDTF">2026-09-18T13:50:27.6670000Z</dcterms:modified>
</coreProperties>
</file>