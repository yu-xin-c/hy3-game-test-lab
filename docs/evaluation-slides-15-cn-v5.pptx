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5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62aa104c0f4e80" /><Relationship Type="http://schemas.openxmlformats.org/officeDocument/2006/relationships/extended-properties" Target="/docProps/app.xml" Id="R32f8b246fa4344d6" /><Relationship Type="http://schemas.openxmlformats.org/officeDocument/2006/relationships/officeDocument" Target="/ppt/presentation.xml" Id="R71e506059d0f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8a86d5a0644f2b"/>
  </p:sldMasterIdLst>
  <p:notesMasterIdLst>
    <p:notesMasterId xmlns:r="http://schemas.openxmlformats.org/officeDocument/2006/relationships" r:id="R285580f69abf4c23"/>
  </p:notesMasterIdLst>
  <p:sldIdLst>
    <p:sldId xmlns:r="http://schemas.openxmlformats.org/officeDocument/2006/relationships" id="256" r:id="R1780e47308dd4ff8"/>
    <p:sldId xmlns:r="http://schemas.openxmlformats.org/officeDocument/2006/relationships" id="257" r:id="R69d011dca0f54991"/>
    <p:sldId xmlns:r="http://schemas.openxmlformats.org/officeDocument/2006/relationships" id="258" r:id="R4ad1d48439cb47e6"/>
    <p:sldId xmlns:r="http://schemas.openxmlformats.org/officeDocument/2006/relationships" id="259" r:id="R9718c1208ecd47aa"/>
    <p:sldId xmlns:r="http://schemas.openxmlformats.org/officeDocument/2006/relationships" id="260" r:id="R646b0f8898cd466a"/>
    <p:sldId xmlns:r="http://schemas.openxmlformats.org/officeDocument/2006/relationships" id="261" r:id="R2ee35c5a432340c3"/>
    <p:sldId xmlns:r="http://schemas.openxmlformats.org/officeDocument/2006/relationships" id="262" r:id="Radd2b22b46a24d60"/>
    <p:sldId xmlns:r="http://schemas.openxmlformats.org/officeDocument/2006/relationships" id="263" r:id="Ra7b2bb4fcf204df3"/>
    <p:sldId xmlns:r="http://schemas.openxmlformats.org/officeDocument/2006/relationships" id="264" r:id="R9a9750a96490493e"/>
    <p:sldId xmlns:r="http://schemas.openxmlformats.org/officeDocument/2006/relationships" id="265" r:id="R11af4a84c31c4f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ddfecbe94343bd" /><Relationship Type="http://schemas.openxmlformats.org/officeDocument/2006/relationships/slideMaster" Target="/ppt/slideMasters/slideMaster1.xml" Id="Rcf8a86d5a0644f2b" /><Relationship Type="http://schemas.openxmlformats.org/officeDocument/2006/relationships/notesMaster" Target="/ppt/notesMasters/notesMaster1.xml" Id="R285580f69abf4c23" /><Relationship Type="http://schemas.openxmlformats.org/officeDocument/2006/relationships/presProps" Target="/ppt/presProps.xml" Id="R43ad8b26220c47e4" /><Relationship Type="http://schemas.openxmlformats.org/officeDocument/2006/relationships/tableStyles" Target="/ppt/tableStyles.xml" Id="R66e115877ab54992" /><Relationship Type="http://schemas.openxmlformats.org/officeDocument/2006/relationships/slide" Target="/ppt/slides/slide1.xml" Id="R1780e47308dd4ff8" /><Relationship Type="http://schemas.openxmlformats.org/officeDocument/2006/relationships/slide" Target="/ppt/slides/slide2.xml" Id="R69d011dca0f54991" /><Relationship Type="http://schemas.openxmlformats.org/officeDocument/2006/relationships/slide" Target="/ppt/slides/slide3.xml" Id="R4ad1d48439cb47e6" /><Relationship Type="http://schemas.openxmlformats.org/officeDocument/2006/relationships/slide" Target="/ppt/slides/slide4.xml" Id="R9718c1208ecd47aa" /><Relationship Type="http://schemas.openxmlformats.org/officeDocument/2006/relationships/slide" Target="/ppt/slides/slide5.xml" Id="R646b0f8898cd466a" /><Relationship Type="http://schemas.openxmlformats.org/officeDocument/2006/relationships/slide" Target="/ppt/slides/slide6.xml" Id="R2ee35c5a432340c3" /><Relationship Type="http://schemas.openxmlformats.org/officeDocument/2006/relationships/slide" Target="/ppt/slides/slide7.xml" Id="Radd2b22b46a24d60" /><Relationship Type="http://schemas.openxmlformats.org/officeDocument/2006/relationships/slide" Target="/ppt/slides/slide8.xml" Id="Ra7b2bb4fcf204df3" /><Relationship Type="http://schemas.openxmlformats.org/officeDocument/2006/relationships/slide" Target="/ppt/slides/slide9.xml" Id="R9a9750a96490493e" /><Relationship Type="http://schemas.openxmlformats.org/officeDocument/2006/relationships/slide" Target="/ppt/slides/slide10.xml" Id="R11af4a84c31c4f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6f8badae914a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eab9ede4084f2d" /><Relationship Type="http://schemas.openxmlformats.org/officeDocument/2006/relationships/notesMaster" Target="/ppt/notesMasters/notesMaster1.xml" Id="R9361a06d947b4f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fdecfa2a5a5405c" /><Relationship Type="http://schemas.openxmlformats.org/officeDocument/2006/relationships/notesMaster" Target="/ppt/notesMasters/notesMaster1.xml" Id="R2f9eede6382341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ad68c41fd4998" /><Relationship Type="http://schemas.openxmlformats.org/officeDocument/2006/relationships/notesMaster" Target="/ppt/notesMasters/notesMaster1.xml" Id="Rade5fba1397841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109d977e5c4b9a" /><Relationship Type="http://schemas.openxmlformats.org/officeDocument/2006/relationships/notesMaster" Target="/ppt/notesMasters/notesMaster1.xml" Id="R65466d298129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d6445debc1e48cd" /><Relationship Type="http://schemas.openxmlformats.org/officeDocument/2006/relationships/notesMaster" Target="/ppt/notesMasters/notesMaster1.xml" Id="R0b5cb5f0fb854d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3773635444462" /><Relationship Type="http://schemas.openxmlformats.org/officeDocument/2006/relationships/notesMaster" Target="/ppt/notesMasters/notesMaster1.xml" Id="R56e63bd2d7e04a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74e82f042c443d" /><Relationship Type="http://schemas.openxmlformats.org/officeDocument/2006/relationships/notesMaster" Target="/ppt/notesMasters/notesMaster1.xml" Id="R46bf14857fdc42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aad6ddc23940df" /><Relationship Type="http://schemas.openxmlformats.org/officeDocument/2006/relationships/notesMaster" Target="/ppt/notesMasters/notesMaster1.xml" Id="Ra7de8541750246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8e5eb3947842b6" /><Relationship Type="http://schemas.openxmlformats.org/officeDocument/2006/relationships/notesMaster" Target="/ppt/notesMasters/notesMaster1.xml" Id="R9edc4bc023064e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b0659604564b52" /><Relationship Type="http://schemas.openxmlformats.org/officeDocument/2006/relationships/notesMaster" Target="/ppt/notesMasters/notesMaster1.xml" Id="R3367bd81303b42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scope。题集来源与分层依据见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过程定义与证据追溯：docs/process-evaluation.md、reports/analysis-report.md。公开编号方案先于代码；工具日志需与最终文件一致。观察桥只收集证据，玩家操作来自真实浏览器。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粒子乐队：results/process-15-v1/particle-orchestra/score-plan-claim.json；results/process-15-v1/PROCESS-VALIDITY.md。公开规则每次 +25；方案和实现 +100 额外终局分；三次 Chromium 终分 200。这里只核对选定计分主张，不把整份方案当已穷尽验证。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位置不一一对应：docs/process-evaluation.md。浏览器首错是首个可观察偏离，方案首错是公开主张首个有独立反例的步骤，代码写入只作来源追溯，不能证明内部推理首错。题面歧义或判据风险不记作确定游戏缺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difficulty_rows 与 difficulty_boundary。各难度分母和未知项未合并。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来源：results/process-15-v1/final-summary.json 的 supported_model_finding_types；分类口径与限制见 results/process-15-v1/FINAL.md。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来源：results/process-15-v1/particle-orchestra/score-plan-claim.json。三次浏览器终局均为 200；标准 100 仅针对选出的公开计分断言，不代表整份方案穷尽标准。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38150e05643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29d19aa544d2b" /><Relationship Type="http://schemas.openxmlformats.org/officeDocument/2006/relationships/slideLayout" Target="/ppt/slideLayouts/slideLayout1.xml" Id="Raa8384f55b4a4b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8384f55b4a4b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aded4bf544793" /><Relationship Type="http://schemas.openxmlformats.org/officeDocument/2006/relationships/notesSlide" Target="/ppt/notesSlides/notesSlide1.xml" Id="R80095710b5134c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aa2d3c7809411b" /><Relationship Type="http://schemas.openxmlformats.org/officeDocument/2006/relationships/chart" Target="/ppt/slides/charts/chart1.xml" Id="Rf1ceb2d740984754" /><Relationship Type="http://schemas.openxmlformats.org/officeDocument/2006/relationships/notesSlide" Target="/ppt/notesSlides/notesSlide2.xml" Id="R1976ca3a506541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200e33eb44cd8" /><Relationship Type="http://schemas.openxmlformats.org/officeDocument/2006/relationships/notesSlide" Target="/ppt/notesSlides/notesSlide3.xml" Id="R1b1c25b85e60444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5eca3e3f44487" /><Relationship Type="http://schemas.openxmlformats.org/officeDocument/2006/relationships/notesSlide" Target="/ppt/notesSlides/notesSlide4.xml" Id="R8602d8b7631542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5732136fb4bd6" /><Relationship Type="http://schemas.openxmlformats.org/officeDocument/2006/relationships/notesSlide" Target="/ppt/notesSlides/notesSlide5.xml" Id="R420f39502a8e4c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2a10bf381484a" /><Relationship Type="http://schemas.openxmlformats.org/officeDocument/2006/relationships/chart" Target="/ppt/slides/charts/chart2.xml" Id="R70df2d22f9cb47eb" /><Relationship Type="http://schemas.openxmlformats.org/officeDocument/2006/relationships/notesSlide" Target="/ppt/notesSlides/notesSlide6.xml" Id="Rdabba607bb4541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6384a383f74063" /><Relationship Type="http://schemas.openxmlformats.org/officeDocument/2006/relationships/chart" Target="/ppt/slides/charts/chart3.xml" Id="Rcceed993649d401f" /><Relationship Type="http://schemas.openxmlformats.org/officeDocument/2006/relationships/notesSlide" Target="/ppt/notesSlides/notesSlide7.xml" Id="R831d7f921612490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476e7d61944df" /><Relationship Type="http://schemas.openxmlformats.org/officeDocument/2006/relationships/chart" Target="/ppt/slides/charts/chart4.xml" Id="R7aae8e6c2e6e4f68" /><Relationship Type="http://schemas.openxmlformats.org/officeDocument/2006/relationships/notesSlide" Target="/ppt/notesSlides/notesSlide8.xml" Id="R4a1ebc33bb104e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36be7c8cb4b28" /><Relationship Type="http://schemas.openxmlformats.org/officeDocument/2006/relationships/chart" Target="/ppt/slides/charts/chart5.xml" Id="R9af522c837e24425" /><Relationship Type="http://schemas.openxmlformats.org/officeDocument/2006/relationships/notesSlide" Target="/ppt/notesSlides/notesSlide9.xml" Id="Rb50326449a1843d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4871cb9c04f10" /><Relationship Type="http://schemas.openxmlformats.org/officeDocument/2006/relationships/notesSlide" Target="/ppt/notesSlides/notesSlide10.xml" Id="Rc5efb1e0dfe2461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题数</c:v>
          </c:tx>
          <c:spPr>
            <a:solidFill xmlns:a="http://schemas.openxmlformats.org/drawingml/2006/main">
              <a:srgbClr val="1B6D57"/>
            </a:solidFill>
          </c:spPr>
          <c:cat>
            <c:strRef>
              <c:f>'Chart Data'!$A$2:$A$5</c:f>
              <c:strCache>
                <c:ptCount val="4"/>
                <c:pt idx="0">
                  <c:v>动作</c:v>
                </c:pt>
                <c:pt idx="1">
                  <c:v>益智</c:v>
                </c:pt>
                <c:pt idx="2">
                  <c:v>创意</c:v>
                </c:pt>
                <c:pt idx="3">
                  <c:v>模拟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26352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1"/>
        </a:solidFill>
      </c:spPr>
    </c:plotArea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判正确</c:v>
          </c:tx>
          <c:spPr>
            <a:solidFill xmlns:a="http://schemas.openxmlformats.org/drawingml/2006/main">
              <a:srgbClr val="1B6D57"/>
            </a:solidFill>
          </c:spPr>
          <c:cat>
            <c:strRef>
              <c:f>'Chart Data'!$A$2:$A$3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</c:v>
                </c:pt>
                <c:pt idx="1">
                  <c:v>6</c:v>
                </c:pt>
              </c:numCache>
            </c:numRef>
          </c:val>
        </c:ser>
        <c:ser>
          <c:idx val="1"/>
          <c:order val="1"/>
          <c:tx>
            <c:v>判错误</c:v>
          </c:tx>
          <c:spPr>
            <a:solidFill xmlns:a="http://schemas.openxmlformats.org/drawingml/2006/main">
              <a:srgbClr val="C95E48"/>
            </a:solidFill>
          </c:spPr>
          <c:cat>
            <c:strRef>
              <c:f>'Chart Data'!$C$2:$C$3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7</c:v>
                </c:pt>
                <c:pt idx="1">
                  <c:v>6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F7A73"/>
            </a:solidFill>
          </c:spPr>
          <c:cat>
            <c:strRef>
              <c:f>'Chart Data'!$E$2:$E$3</c:f>
              <c:strCache>
                <c:ptCount val="2"/>
                <c:pt idx="0">
                  <c:v>最终游戏</c:v>
                </c:pt>
                <c:pt idx="1">
                  <c:v>公开方案</c:v>
                </c:pt>
              </c:strCache>
            </c:strRef>
          </c:cat>
          <c:val>
            <c:numRef>
              <c:f>'Chart Data'!$F$2:$F$3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FAF8F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5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AF8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solidFill>
                <a:srgbClr val="26352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最终判正确</c:v>
          </c:tx>
          <c:spPr>
            <a:solidFill xmlns:a="http://schemas.openxmlformats.org/drawingml/2006/main">
              <a:srgbClr val="1B6D57"/>
            </a:solidFill>
          </c:spPr>
          <c:cat>
            <c:strRef>
              <c:f>'Chart Data'!$A$2:$A$4</c:f>
              <c:strCache>
                <c:ptCount val="3"/>
                <c:pt idx="0">
                  <c:v>基础</c:v>
                </c:pt>
                <c:pt idx="1">
                  <c:v>中等</c:v>
                </c:pt>
                <c:pt idx="2">
                  <c:v>高难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v>最终判错误</c:v>
          </c:tx>
          <c:spPr>
            <a:solidFill xmlns:a="http://schemas.openxmlformats.org/drawingml/2006/main">
              <a:srgbClr val="C95E48"/>
            </a:solidFill>
          </c:spPr>
          <c:cat>
            <c:strRef>
              <c:f>'Chart Data'!$C$2:$C$4</c:f>
              <c:strCache>
                <c:ptCount val="3"/>
                <c:pt idx="0">
                  <c:v>基础</c:v>
                </c:pt>
                <c:pt idx="1">
                  <c:v>中等</c:v>
                </c:pt>
                <c:pt idx="2">
                  <c:v>高难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ser>
          <c:idx val="2"/>
          <c:order val="2"/>
          <c:tx>
            <c:v>未判定</c:v>
          </c:tx>
          <c:spPr>
            <a:solidFill xmlns:a="http://schemas.openxmlformats.org/drawingml/2006/main">
              <a:srgbClr val="6F7A73"/>
            </a:solidFill>
          </c:spPr>
          <c:cat>
            <c:strRef>
              <c:f>'Chart Data'!$E$2:$E$4</c:f>
              <c:strCache>
                <c:ptCount val="3"/>
                <c:pt idx="0">
                  <c:v>基础</c:v>
                </c:pt>
                <c:pt idx="1">
                  <c:v>中等</c:v>
                </c:pt>
                <c:pt idx="2">
                  <c:v>高难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FAF8F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8F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26352F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标记条数</c:v>
          </c:tx>
          <c:spPr>
            <a:solidFill xmlns:a="http://schemas.openxmlformats.org/drawingml/2006/main">
              <a:srgbClr val="C95E48"/>
            </a:solidFill>
          </c:spPr>
          <c:cat>
            <c:strRef>
              <c:f>'Chart Data'!$A$2:$A$4</c:f>
              <c:strCache>
                <c:ptCount val="3"/>
                <c:pt idx="0">
                  <c:v>实现不符</c:v>
                </c:pt>
                <c:pt idx="1">
                  <c:v>错误假设</c:v>
                </c:pt>
                <c:pt idx="2">
                  <c:v>题意误读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26352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3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AF8F1"/>
        </a:solidFill>
      </c:spPr>
    </c:plotArea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终局分数</c:v>
          </c:tx>
          <c:spPr>
            <a:solidFill xmlns:a="http://schemas.openxmlformats.org/drawingml/2006/main">
              <a:srgbClr val="C95E4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B6D57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公开标准</c:v>
                </c:pt>
                <c:pt idx="1">
                  <c:v>方案预计</c:v>
                </c:pt>
                <c:pt idx="2">
                  <c:v>试玩一</c:v>
                </c:pt>
                <c:pt idx="3">
                  <c:v>试玩二</c:v>
                </c:pt>
                <c:pt idx="4">
                  <c:v>试玩三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100</c:v>
                </c:pt>
                <c:pt idx="1">
                  <c:v>200</c:v>
                </c:pt>
                <c:pt idx="2">
                  <c:v>200</c:v>
                </c:pt>
                <c:pt idx="3">
                  <c:v>200</c:v>
                </c:pt>
                <c:pt idx="4">
                  <c:v>200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52F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20"/>
          <c:min val="0"/>
        </c:scaling>
        <c:delete val="0"/>
        <c:axPos val="l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AF8F1"/>
        </a:solidFill>
      </c:spPr>
    </c:plotArea>
    <c:plotVisOnly val="1"/>
  </c:chart>
  <c:spPr>
    <a:solidFill xmlns:a="http://schemas.openxmlformats.org/drawingml/2006/main">
      <a:srgbClr val="FAF8F1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44D6AF-828C-4935-8593-9A03F26C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852AF-160F-4B2D-8C33-230A8D33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16834-2A4D-4E18-97E0-48E4C515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游戏生成过程评估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1EFCF2-757B-4B70-9DCA-C02837F4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定位玩法错误出现的步骤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466BF0-5915-47A8-86B8-DAAC5830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混元生成与复核，浏览器实际操作游戏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FFFB38-E5F9-4DAF-8CC1-580EC72D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9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60711-86C1-4D91-83BA-4EE1388C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道固定游戏题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5EEB5-6701-4DB7-8AC5-39AC20EA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86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公开方案、生成代码、真实试玩、错误定位</a:t>
            </a:r>
          </a:p>
        </p:txBody>
      </p:sp>
    </p:spTree>
    <p:extLst>
      <p:ext uri="{BB962C8B-B14F-4D97-AF65-F5344CB8AC3E}">
        <p14:creationId xmlns:p14="http://schemas.microsoft.com/office/powerpoint/2010/main" val="20916208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885018-8CAB-4FDE-BE50-01960948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D273-6045-4174-A667-EB64E37D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84C589-2736-414C-80A4-9B548E87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十五题覆盖的玩法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14375" y="1762125"/>
          <a:ext xmlns:a="http://schemas.openxmlformats.org/drawingml/2006/main" cx="10382250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1ceb2d74098475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FC3AA-A24A-4620-86C8-095A6A61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816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难度：基础 4 题，中等 6 题，高难 5 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0DFC7-7060-4CF1-A24B-30832BD2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按冻结清单顺序选取；不含摄像头、视频或语音任务，也不是代表性抽样</a:t>
            </a:r>
          </a:p>
        </p:txBody>
      </p:sp>
    </p:spTree>
    <p:extLst>
      <p:ext uri="{BB962C8B-B14F-4D97-AF65-F5344CB8AC3E}">
        <p14:creationId xmlns:p14="http://schemas.microsoft.com/office/powerpoint/2010/main" val="7768755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54596-5D31-4B31-9D1D-489D101D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E0C0B-C5EB-4659-85EF-164A6731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3E4DD-A600-4805-8410-5E181430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评估对象：游戏生成过程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0C38B-2F0E-4435-8426-73C8D7B5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85737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2A276-1970-4A5C-9E24-F56C83BF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87642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题目和标准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BEDC73-5656-4562-83F6-9A8D337E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3050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公开玩法要求给混元；私有检查留到生成后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08234-839D-49B2-A7C4-90092463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83845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35ED1A-AA85-4ADE-8831-D34DDB8B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575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公开编号方案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35DAE7-0258-4AFB-A54B-A232C159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286125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混元先写方案，保留规则判断和预期结果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8505DA-C96E-461B-A940-F20B6ADB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8195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D32DE-600B-4A0E-AE64-580315A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385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实际代码写入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B5310-7411-4745-9BC1-397E3D72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2672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逐次保存文件写入和修改、最终文件和哈希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FBE91-EFAF-4129-9C31-6BFFE1B8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00600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13255-CCE4-464A-BFC0-95F1C227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试玩与审查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16BF0A-3D73-4496-BC17-3535F439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248275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真实浏览器输入找反例；混元再审查方案和代码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31E8D-EEC0-4500-840B-85C4089B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953125"/>
            <a:ext cx="962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这里的“过程”指留下来的生成方案和实现记录，不推测模型的内部思维</a:t>
            </a:r>
          </a:p>
        </p:txBody>
      </p:sp>
    </p:spTree>
    <p:extLst>
      <p:ext uri="{BB962C8B-B14F-4D97-AF65-F5344CB8AC3E}">
        <p14:creationId xmlns:p14="http://schemas.microsoft.com/office/powerpoint/2010/main" val="3768505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863A5-06C7-43E4-9925-374F4693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D025D-2325-4468-87AF-328C0A38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587D2-0810-49EA-AE57-78BB641E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一条方案主张怎样受检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E8473-9059-4E60-8B57-F0C89D0A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621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以粒子乐队的终局计分为例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0691A-E6CE-4983-9DED-FBAA8CC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公开规则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BF3581-88E9-45F0-A21E-ABE590ED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6D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C98B0-0DB8-47B0-A05A-4F13403A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四次正确输入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04B4E-4C3B-4ADC-B39D-1944E922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每次加 25 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4CA49-6ABE-4A8A-804D-CCE3ADC5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方案第三步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E07144-9FE5-4ACC-9FCB-679CA274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6D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6611AB-5EE7-4E78-B836-1AE94FFE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813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预计终分 200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C2403B-BFEA-4F8D-973E-35B497FB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多算了 100 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E93600-A730-40E4-B3A5-DA326936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479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代码写入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E0FB1-99DB-4F1B-A534-21DEBAC3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6D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67DCC-06FD-43B3-81F2-515DCB90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813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终局又加 100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8E7D5C-C206-42B1-9F34-6CFDA686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38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可追溯到文件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9A4F43-0BA8-481F-A465-DF0B68E1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47900"/>
            <a:ext cx="2333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浏览器试玩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3AB42B-CDF8-49E6-8144-0908407F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81300"/>
            <a:ext cx="2333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B6D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8612C-C478-4C93-BBB7-5B9B49F3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813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三次终局 200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149154-280E-449C-A205-B3204BA4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385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真实键鼠输入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F604B2-991B-48A2-AA30-1DFC7A75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独立判据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064254-F919-4D00-B6E5-22094BC0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公开规则可算出 100 分；该值不从方案或生成代码中取得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601F39-722A-4253-8842-57611C3B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2238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5E4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C95E48"/>
                </a:solidFill>
                <a:latin typeface="Arial Unicode MS"/>
                <a:ea typeface="Arial Unicode MS"/>
                <a:cs typeface="Arial Unicode MS"/>
              </a:rPr>
              <a:t>结论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9AE1E4-5B6D-4987-ACB6-9FE89308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这条计分错误出现在方案第三步，实现继续沿用了错误计分</a:t>
            </a:r>
          </a:p>
        </p:txBody>
      </p:sp>
    </p:spTree>
    <p:extLst>
      <p:ext uri="{BB962C8B-B14F-4D97-AF65-F5344CB8AC3E}">
        <p14:creationId xmlns:p14="http://schemas.microsoft.com/office/powerpoint/2010/main" val="9205245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F52CEC-504B-44E9-8716-8F7B48D2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F4DAE-F47B-4165-BE39-4BF66F48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60820B-98C4-4F95-AFFA-2EC2ACB6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过程评估重点与首错位置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FC5E8-DB69-4404-8110-CA16919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题意是否读对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A237F-1804-4153-BA8B-59747D66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335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胜负、计分、时序和存档规则不能自行改写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43AC2-11AE-4FC6-8E27-838E982B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97410-258B-48E3-8897-D2F98BDC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方案是否成立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F5F4D7-8A10-4182-B18D-C7FBB9C4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5272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每条可验证的预期结果，先与公开规则核对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FB9DF-55A6-4049-A8DB-A585A425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5F183D-AFCD-42A1-B7AA-3277B6E6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实现是否兑现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E820A-39BC-44B1-828E-0953180D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7187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检查代码对应的动作、状态变化和边界条件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E1BBD-4C59-4D81-9257-A80BC17B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8FF7C9-B125-4D79-9BB3-5A3F73DC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判据是否可靠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0E5BC1-CB5B-4FEA-A324-74C46DEA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91025"/>
            <a:ext cx="785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私有断言若添加题面未写的限制，单列为标准风险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BFC2D-BA5C-4448-9921-2EF12C98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33950"/>
            <a:ext cx="1052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3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EB9595-6E99-4FD2-B0E7-9D85B8E97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4830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三种位置分别记录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A7274-7B28-43C3-8E8B-D9E0DA5D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浏览器第几次操作首错    方案第几步先失真    相关代码在哪次写入</a:t>
            </a:r>
          </a:p>
        </p:txBody>
      </p:sp>
    </p:spTree>
    <p:extLst>
      <p:ext uri="{BB962C8B-B14F-4D97-AF65-F5344CB8AC3E}">
        <p14:creationId xmlns:p14="http://schemas.microsoft.com/office/powerpoint/2010/main" val="13633796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A2C20A-7909-447F-9604-9239E65B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77C0B-49FE-4112-B8A1-D8B5C9FC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00AF3-E9F9-4055-B181-B86D569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混元对十五题的判定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382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df2d22f9cb47e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90EB6-1197-4582-8880-D9540334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声明文件合规 8/15；原始游玩路径终局通过 14/47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E5DE9-92D6-47A8-A577-191FA6C9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图中是混元意见；原始路径有已知标准问题，均不等于独立正确率</a:t>
            </a:r>
          </a:p>
        </p:txBody>
      </p:sp>
    </p:spTree>
    <p:extLst>
      <p:ext uri="{BB962C8B-B14F-4D97-AF65-F5344CB8AC3E}">
        <p14:creationId xmlns:p14="http://schemas.microsoft.com/office/powerpoint/2010/main" val="1724309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59A1B-917F-4062-9EFF-856A094B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3EF47-F8CA-4CC2-A325-151D50F5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5DF90-57AD-48D9-AE71-142F9A0D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按难度分层的混元判断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3822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ed993649d401f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2ADDB-2095-4C52-A705-F1CDCE19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81625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公开方案判成立：基础 1/3，中等 2/4，高难 3/5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3FCA5-A58C-4A4B-BF7F-658C6144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388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仅 4／6／5 题，玩法和检查强度不同；不能据此判断难度拐点</a:t>
            </a:r>
          </a:p>
        </p:txBody>
      </p:sp>
    </p:spTree>
    <p:extLst>
      <p:ext uri="{BB962C8B-B14F-4D97-AF65-F5344CB8AC3E}">
        <p14:creationId xmlns:p14="http://schemas.microsoft.com/office/powerpoint/2010/main" val="2830418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B8158-D3CC-4222-9535-27A6A50B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404BF-DC09-4236-B7CA-795775B3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BB340-51F9-409B-9393-F58A609E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混元标记的错误类型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742950" y="1809750"/>
          <a:ext xmlns:a="http://schemas.openxmlformats.org/drawingml/2006/main" cx="10382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ae8e6c2e6e4f6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41AC4-174B-4C37-B91B-A4E3902E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97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同题可有多条标记；这些是混元复核标签，不是逐条独立证实的游戏缺陷</a:t>
            </a:r>
          </a:p>
        </p:txBody>
      </p:sp>
    </p:spTree>
    <p:extLst>
      <p:ext uri="{BB962C8B-B14F-4D97-AF65-F5344CB8AC3E}">
        <p14:creationId xmlns:p14="http://schemas.microsoft.com/office/powerpoint/2010/main" val="21323177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76BD0-7F16-4A30-AF18-A864EA13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747CC-6AC8-4694-9AB3-21FA9FE2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60AF-3777-48E8-B399-E49B6AB72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1B6D57"/>
                </a:solidFill>
                <a:latin typeface="Arial Unicode MS"/>
                <a:ea typeface="Arial Unicode MS"/>
                <a:cs typeface="Arial Unicode MS"/>
              </a:rPr>
              <a:t>计分错误：方案第三步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742950" y="1762125"/>
          <a:ext xmlns:a="http://schemas.openxmlformats.org/drawingml/2006/main" cx="103822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f522c837e2442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F5B4D-8680-4953-AD0C-22EB17B8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6352F"/>
                </a:solidFill>
                <a:latin typeface="Arial Unicode MS"/>
                <a:ea typeface="Arial Unicode MS"/>
                <a:cs typeface="Arial Unicode MS"/>
              </a:rPr>
              <a:t>四次正确输入各加 25 分；方案与代码又多加 100 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B94B73-F5B3-4F08-A362-62C1162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97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F7A73"/>
                </a:solidFill>
                <a:latin typeface="Arial Unicode MS"/>
                <a:ea typeface="Arial Unicode MS"/>
                <a:cs typeface="Arial Unicode MS"/>
              </a:rPr>
              <a:t>混元判过程有错并定位第三步；这里只验证选出的公开计分主张</a:t>
            </a:r>
          </a:p>
        </p:txBody>
      </p:sp>
    </p:spTree>
    <p:extLst>
      <p:ext uri="{BB962C8B-B14F-4D97-AF65-F5344CB8AC3E}">
        <p14:creationId xmlns:p14="http://schemas.microsoft.com/office/powerpoint/2010/main" val="11684680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85B02-C595-47BD-8C67-5E4874F2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游戏评测实验室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DE8CB-7DFB-458A-9B97-D348F57D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A8E81-8867-49F4-A599-A217B714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150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过程定位的有效性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0A38D-3765-4F74-BE4E-2FBFA5718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6212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700" b="1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599B6-F321-451F-AF67-D3D935C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52650"/>
            <a:ext cx="714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原始复核同时检出并定位已核对的错误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CEEE5-30E2-44E9-A407-E35E2FFE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48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钥匙开门：给出第一步，却判方案正确；未命中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5FD93C-BB56-4729-B48B-44E2E36B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联机五子棋：判有错，却未给第四步；未命中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C92AF-5A47-4237-995C-0D5796F7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05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粒子乐队：判有错并给第三步；命中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B7382-662B-4743-A481-252389B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76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FAF8F1"/>
                </a:solidFill>
                <a:latin typeface="Arial Unicode MS"/>
                <a:ea typeface="Arial Unicode MS"/>
                <a:cs typeface="Arial Unicode MS"/>
              </a:rPr>
              <a:t>二〇四八单例：核心玩法可通关，方案第三步错；补充复核真问题 1/1，误报 0/1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6BB01-087A-4E0F-9099-8070E0BD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57875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D4EABF"/>
                </a:solidFill>
                <a:latin typeface="Arial Unicode MS"/>
                <a:ea typeface="Arial Unicode MS"/>
                <a:cs typeface="Arial Unicode MS"/>
              </a:rPr>
              <a:t>标准只核对选定主张；补充复核提示不同，样本不足以估计总体误报率</a:t>
            </a:r>
          </a:p>
        </p:txBody>
      </p:sp>
    </p:spTree>
    <p:extLst>
      <p:ext uri="{BB962C8B-B14F-4D97-AF65-F5344CB8AC3E}">
        <p14:creationId xmlns:p14="http://schemas.microsoft.com/office/powerpoint/2010/main" val="1106941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2026-09-15T11:02:40.6340000Z</dcterms:created>
  <dcterms:modified xsi:type="dcterms:W3CDTF">2026-09-15T11:02:40.6340000Z</dcterms:modified>
</coreProperties>
</file>