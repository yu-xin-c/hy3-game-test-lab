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b0b2ec9c574acb" /><Relationship Type="http://schemas.openxmlformats.org/officeDocument/2006/relationships/extended-properties" Target="/docProps/app.xml" Id="R2a255df16bb143fc" /><Relationship Type="http://schemas.openxmlformats.org/officeDocument/2006/relationships/officeDocument" Target="/ppt/presentation.xml" Id="R75218153c4a5428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8b54b15d8a4186"/>
  </p:sldMasterIdLst>
  <p:notesMasterIdLst>
    <p:notesMasterId xmlns:r="http://schemas.openxmlformats.org/officeDocument/2006/relationships" r:id="Rc14e00e4ab404dbf"/>
  </p:notesMasterIdLst>
  <p:sldIdLst>
    <p:sldId xmlns:r="http://schemas.openxmlformats.org/officeDocument/2006/relationships" id="256" r:id="Re31ef88d82bc4f17"/>
    <p:sldId xmlns:r="http://schemas.openxmlformats.org/officeDocument/2006/relationships" id="257" r:id="R43cf30120ab4497d"/>
    <p:sldId xmlns:r="http://schemas.openxmlformats.org/officeDocument/2006/relationships" id="258" r:id="R9c0420edc8be487c"/>
    <p:sldId xmlns:r="http://schemas.openxmlformats.org/officeDocument/2006/relationships" id="259" r:id="Ra34d1c27e0e84747"/>
    <p:sldId xmlns:r="http://schemas.openxmlformats.org/officeDocument/2006/relationships" id="260" r:id="Rb41c9ddc92e241d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e54ab309034875" /><Relationship Type="http://schemas.openxmlformats.org/officeDocument/2006/relationships/slideMaster" Target="/ppt/slideMasters/slideMaster1.xml" Id="R4e8b54b15d8a4186" /><Relationship Type="http://schemas.openxmlformats.org/officeDocument/2006/relationships/notesMaster" Target="/ppt/notesMasters/notesMaster1.xml" Id="Rc14e00e4ab404dbf" /><Relationship Type="http://schemas.openxmlformats.org/officeDocument/2006/relationships/presProps" Target="/ppt/presProps.xml" Id="R39a623af11fd4946" /><Relationship Type="http://schemas.openxmlformats.org/officeDocument/2006/relationships/tableStyles" Target="/ppt/tableStyles.xml" Id="Rbd1c9e9d41884088" /><Relationship Type="http://schemas.openxmlformats.org/officeDocument/2006/relationships/slide" Target="/ppt/slides/slide1.xml" Id="Re31ef88d82bc4f17" /><Relationship Type="http://schemas.openxmlformats.org/officeDocument/2006/relationships/slide" Target="/ppt/slides/slide2.xml" Id="R43cf30120ab4497d" /><Relationship Type="http://schemas.openxmlformats.org/officeDocument/2006/relationships/slide" Target="/ppt/slides/slide3.xml" Id="R9c0420edc8be487c" /><Relationship Type="http://schemas.openxmlformats.org/officeDocument/2006/relationships/slide" Target="/ppt/slides/slide4.xml" Id="Ra34d1c27e0e84747" /><Relationship Type="http://schemas.openxmlformats.org/officeDocument/2006/relationships/slide" Target="/ppt/slides/slide5.xml" Id="Rb41c9ddc92e241d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a6f34da45b45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59dc9193da4c03" /><Relationship Type="http://schemas.openxmlformats.org/officeDocument/2006/relationships/notesMaster" Target="/ppt/notesMasters/notesMaster1.xml" Id="R96b9b9fb30bb422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31372bf885a408c" /><Relationship Type="http://schemas.openxmlformats.org/officeDocument/2006/relationships/notesMaster" Target="/ppt/notesMasters/notesMaster1.xml" Id="Rc46e461a139641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56f6c98fdb49f7" /><Relationship Type="http://schemas.openxmlformats.org/officeDocument/2006/relationships/notesMaster" Target="/ppt/notesMasters/notesMaster1.xml" Id="R62ba125f3ab244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eeed7f346b4e40" /><Relationship Type="http://schemas.openxmlformats.org/officeDocument/2006/relationships/notesMaster" Target="/ppt/notesMasters/notesMaster1.xml" Id="R9b943bf71e8f49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29fb305d7b4d8d" /><Relationship Type="http://schemas.openxmlformats.org/officeDocument/2006/relationships/notesMaster" Target="/ppt/notesMasters/notesMaster1.xml" Id="R0c61680e83f84b0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正式范围：results/process-15-v1/scope.json；15 题全部完成见 results/process-15-v1/FINAL.md。历史 96 题不并入本报告。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过程定义、证据哈希与验证设计：reports/analysis-report.md；results/process-15-v1/PROGRESS.md。观察桥仅收集证据，玩家操作来自 Chromium。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所有分母和口径：results/process-15-v1/final-summary.json。原固定路径含已核实的输入、私有断言和 observe 字段问题；声明文件合规也不保证完整运行接口合规。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公开计分标准、原方案与三次重放：results/process-15-v1/particle-orchestra/score-plan-claim.json；截图是保存的原始 Chromium 执行证据，不是生成示意图。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三份公开方案子断言标准与复核结果：results/process-15-v1/PROCESS-VALIDITY.md。2048 补充混元提示不同，不能与原始全题复核合并；这里只描述已核对的一个正确核心游戏、错误过程单例。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d84b1a6fe946b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f968e79527443d" /><Relationship Type="http://schemas.openxmlformats.org/officeDocument/2006/relationships/slideLayout" Target="/ppt/slideLayouts/slideLayout1.xml" Id="R131bf31f38a041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31bf31f38a041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e6dc08dae4b52" /><Relationship Type="http://schemas.openxmlformats.org/officeDocument/2006/relationships/notesSlide" Target="/ppt/notesSlides/notesSlide1.xml" Id="R4f9a7f6391c64a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0af8ea35334b86" /><Relationship Type="http://schemas.openxmlformats.org/officeDocument/2006/relationships/notesSlide" Target="/ppt/notesSlides/notesSlide2.xml" Id="Re79c7a20bbe44a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5e47aecd447bf" /><Relationship Type="http://schemas.openxmlformats.org/officeDocument/2006/relationships/notesSlide" Target="/ppt/notesSlides/notesSlide3.xml" Id="Rea3c3dcc01704c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00fb9b79ca4f79" /><Relationship Type="http://schemas.openxmlformats.org/officeDocument/2006/relationships/image" Target="/ppt/media/image.png" Id="Rbd9f0f5d8b4944a8" /><Relationship Type="http://schemas.openxmlformats.org/officeDocument/2006/relationships/notesSlide" Target="/ppt/notesSlides/notesSlide4.xml" Id="Rf27ab2bc276e4c6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75b3cc87f542ab" /><Relationship Type="http://schemas.openxmlformats.org/officeDocument/2006/relationships/notesSlide" Target="/ppt/notesSlides/notesSlide5.xml" Id="Rb1245f95dd6840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410AC-9A6A-48A5-9315-011C0FD9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54F496-EC90-48AA-9810-FAA76DAA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9DEEAD-327E-4870-9164-AA83FAB9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AF8F1"/>
                </a:solidFill>
                <a:latin typeface="Georgia"/>
                <a:ea typeface="Georgia"/>
                <a:cs typeface="Georgia"/>
              </a:defRPr>
            </a:pPr>
            <a:r>
              <a:rPr sz="4650" b="1">
                <a:solidFill>
                  <a:srgbClr val="FAF8F1"/>
                </a:solidFill>
                <a:latin typeface="Georgia"/>
                <a:ea typeface="Georgia"/>
                <a:cs typeface="Georgia"/>
              </a:rPr>
              <a:t>GameTestLab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44A220-EB33-43C6-9D2F-15C1683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8096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2550" b="0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Game generation and process evaluation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C0BCC-E4E8-4FBF-BD39-C49CB216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61950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AF8F1"/>
                </a:solidFill>
                <a:latin typeface="Georgia"/>
                <a:ea typeface="Georgia"/>
                <a:cs typeface="Georgia"/>
              </a:rPr>
              <a:t>Hy3 plans, codes and reviews. Chromium plays.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86E46-CC42-43FD-9E8A-F83F40D84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19300"/>
            <a:ext cx="2190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9900" b="1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58A386-19FC-441F-9377-25020F2E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9243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8F1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AF8F1"/>
                </a:solidFill>
                <a:latin typeface="Georgia"/>
                <a:ea typeface="Georgia"/>
                <a:cs typeface="Georgia"/>
              </a:rPr>
              <a:t>frozen game tasks</a:t>
            </a:r>
          </a:p>
        </p:txBody>
      </p:sp>
    </p:spTree>
    <p:extLst>
      <p:ext uri="{BB962C8B-B14F-4D97-AF65-F5344CB8AC3E}">
        <p14:creationId xmlns:p14="http://schemas.microsoft.com/office/powerpoint/2010/main" val="72252332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6615C1-0292-4DFF-89D4-1A4682AC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B386C-3C92-437B-B438-22F924AE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72DEE1-CD1B-487E-B4FA-DE087046A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One game's evaluation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EC5ECF-33A4-4AE9-8AA8-C1518D3BE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526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4E3908-3B0F-4120-B5D2-64E0F5B0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9716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Game brief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DBBD4F-FFB7-423B-9C82-75D58658B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4003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Rules, win/loss goals and executable checks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64AF9-C1DC-4593-84CB-7430A5B3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9813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B1C5-37E6-467A-91EE-4B92C01CB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03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Hy3's numbered plan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CB3AA2-D04B-40C7-B387-EB14FAAE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34290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Written before code, with a check for each step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C1F751-A942-4CD9-A4FB-1E9CEBED2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0100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3B9A18-A496-498A-9798-EEF4FA2E4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0290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Code written with Write/Edit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523E9C-368E-4F02-8355-DF60D2EAF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4577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Reconstructed from tool calls and file hashes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0B9F0-62D2-4DDB-A57A-855005F90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38725"/>
            <a:ext cx="95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3375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0FEEAA-4FD1-4FD7-AEC5-0F6DF52E1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577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Chromium play and Hy3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EC7C6-1387-4370-BDF4-C36CE86F2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486400"/>
            <a:ext cx="923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Real input, virtual time and counterexamples</a:t>
            </a:r>
          </a:p>
        </p:txBody>
      </p:sp>
    </p:spTree>
    <p:extLst>
      <p:ext uri="{BB962C8B-B14F-4D97-AF65-F5344CB8AC3E}">
        <p14:creationId xmlns:p14="http://schemas.microsoft.com/office/powerpoint/2010/main" val="1761283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9E959-B9C0-47EE-8B1E-EC08036E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1EF28-F185-4606-9010-170D0392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8DA97A-BAB0-4225-AE63-A52856689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Three result types across 15 tasks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68F583-8E73-4128-9790-54B1EC4C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4000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540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15/15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FE6C1-4D41-4891-8EC6-4ED5B686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plan, game, browser play and review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6D2E1-21FE-4E02-B754-CDC74E548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3552825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4/11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987689-B05B-45ED-8F56-D548F343F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67200"/>
            <a:ext cx="4714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Hy3: final game correct / decided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0C911C-57F0-4D76-869A-EB3D4A0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52825"/>
            <a:ext cx="3238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6/12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BC620-EE7B-4108-9599-0B0E5E9CE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4267200"/>
            <a:ext cx="485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Hy3: plan process valid / decided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387C50-B763-4935-96F2-2B411BEA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Manifest files valid: 8/15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24D30C-7CC8-49EA-9D32-622AFE17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219700"/>
            <a:ext cx="504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1800" b="1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Original path passes: 14/47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453E1F-752C-435F-A195-F22F9C318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Hy3 opinions and raw path scores need independent checking</a:t>
            </a:r>
          </a:p>
        </p:txBody>
      </p:sp>
    </p:spTree>
    <p:extLst>
      <p:ext uri="{BB962C8B-B14F-4D97-AF65-F5344CB8AC3E}">
        <p14:creationId xmlns:p14="http://schemas.microsoft.com/office/powerpoint/2010/main" val="20229073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AB8FB9-9717-4914-B42C-84DC5EBD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B37FE7-08ED-40AB-98E7-7BFE6B40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58018-D864-4534-B530-8F6BE66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14400"/>
            <a:ext cx="942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Step 3 adds 100 points too many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f0f5d8b4944a8"/>
          <a:stretch xmlns:a="http://schemas.openxmlformats.org/drawingml/2006/main"/>
        </p:blipFill>
        <p:spPr>
          <a:xfrm xmlns:a="http://schemas.openxmlformats.org/drawingml/2006/main">
            <a:off x="647700" y="1809750"/>
            <a:ext cx="4953000" cy="3714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5C1410-58FC-4412-ADD1-5A6A741AD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952625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3900" b="1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4 × 25 = 100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DFC7D-9813-409C-A69A-8028506D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6670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F7A73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6F7A73"/>
                </a:solidFill>
                <a:latin typeface="Georgia"/>
                <a:ea typeface="Georgia"/>
                <a:cs typeface="Georgia"/>
              </a:rPr>
              <a:t>Score required by the brief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CA1BC0-AAB3-4505-A76F-E8928AA80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29000"/>
            <a:ext cx="4667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C95E48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C95E48"/>
                </a:solidFill>
                <a:latin typeface="Georgia"/>
                <a:ea typeface="Georgia"/>
                <a:cs typeface="Georgia"/>
              </a:rPr>
              <a:t>Code adds another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96B910-1D92-403C-AAFE-1D2E9938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48125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6352F"/>
                </a:solidFill>
                <a:latin typeface="Georgia"/>
                <a:ea typeface="Georgia"/>
                <a:cs typeface="Georgia"/>
              </a:defRPr>
            </a:pPr>
            <a:r>
              <a:rPr sz="2025" b="0">
                <a:solidFill>
                  <a:srgbClr val="26352F"/>
                </a:solidFill>
                <a:latin typeface="Georgia"/>
                <a:ea typeface="Georgia"/>
                <a:cs typeface="Georgia"/>
              </a:rPr>
              <a:t>Three wins all scored 200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B4F411-4395-49F5-A7CD-39EBF7709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857750"/>
            <a:ext cx="4953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B6D57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1B6D57"/>
                </a:solidFill>
                <a:latin typeface="Georgia"/>
                <a:ea typeface="Georgia"/>
                <a:cs typeface="Georgia"/>
              </a:rPr>
              <a:t>Hy3 detects and locates plan step 3</a:t>
            </a:r>
          </a:p>
        </p:txBody>
      </p:sp>
    </p:spTree>
    <p:extLst>
      <p:ext uri="{BB962C8B-B14F-4D97-AF65-F5344CB8AC3E}">
        <p14:creationId xmlns:p14="http://schemas.microsoft.com/office/powerpoint/2010/main" val="10851433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724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5F6DCB-135E-4A4B-9789-12C4AE315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29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1200" b="1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GAME TEST LAB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C7551F-3700-43CE-B2B6-5AF79B786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38875"/>
            <a:ext cx="47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1050" b="0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FB285-BC5B-4914-886B-AB5B1C4E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525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3150" b="1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How reliable is step localization?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3589B-11B2-4798-932B-F3FBAA7EB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1455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AF8F1"/>
                </a:solidFill>
                <a:latin typeface="Georgia"/>
                <a:ea typeface="Georgia"/>
                <a:cs typeface="Georgia"/>
              </a:defRPr>
            </a:pPr>
            <a:r>
              <a:rPr sz="5400" b="1">
                <a:solidFill>
                  <a:srgbClr val="FAF8F1"/>
                </a:solidFill>
                <a:latin typeface="Georgia"/>
                <a:ea typeface="Georgia"/>
                <a:cs typeface="Georgia"/>
              </a:rPr>
              <a:t>1/3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A525A-0DD8-4C85-9C22-31C8E4BC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057525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AF8F1"/>
                </a:solidFill>
                <a:latin typeface="Georgia"/>
                <a:ea typeface="Georgia"/>
                <a:cs typeface="Georgia"/>
              </a:defRPr>
            </a:pPr>
            <a:r>
              <a:rPr sz="1875" b="0">
                <a:solidFill>
                  <a:srgbClr val="FAF8F1"/>
                </a:solidFill>
                <a:latin typeface="Georgia"/>
                <a:ea typeface="Georgia"/>
                <a:cs typeface="Georgia"/>
              </a:rPr>
              <a:t>Original full review: detect and locate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BBE038-30B9-4771-858A-24F491D7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695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2325" b="1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2048 plays correctly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83A909-1FCC-40B4-B0CA-2A0565DAC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48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AF8F1"/>
                </a:solidFill>
                <a:latin typeface="Georgia"/>
                <a:ea typeface="Georgia"/>
                <a:cs typeface="Georgia"/>
              </a:defRPr>
            </a:pPr>
            <a:r>
              <a:rPr sz="1650" b="0">
                <a:solidFill>
                  <a:srgbClr val="FAF8F1"/>
                </a:solidFill>
                <a:latin typeface="Georgia"/>
                <a:ea typeface="Georgia"/>
                <a:cs typeface="Georgia"/>
              </a:rPr>
              <a:t>Its plan calls a winning move a loss. A second Hy3 review finds step 3.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54CE41-A77B-4F6F-92D8-444A18940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FAF8F1"/>
                </a:solidFill>
                <a:latin typeface="Georgia"/>
                <a:ea typeface="Georgia"/>
                <a:cs typeface="Georgia"/>
              </a:defRPr>
            </a:pPr>
            <a:r>
              <a:rPr sz="1575" b="0">
                <a:solidFill>
                  <a:srgbClr val="FAF8F1"/>
                </a:solidFill>
                <a:latin typeface="Georgia"/>
                <a:ea typeface="Georgia"/>
                <a:cs typeface="Georgia"/>
              </a:rPr>
              <a:t>One checked correct-core case: real issue 1/1, false alarm 0/1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6AE9AB-1C5E-4926-8698-042D7F0F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1500" b="0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Small samples cannot establish a general error rate or difficulty threshold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66B1C-2BFB-419B-B6D7-76C0631C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88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D4EABF"/>
                </a:solidFill>
                <a:latin typeface="Georgia"/>
                <a:ea typeface="Georgia"/>
                <a:cs typeface="Georgia"/>
              </a:defRPr>
            </a:pPr>
            <a:r>
              <a:rPr sz="1200" b="0">
                <a:solidFill>
                  <a:srgbClr val="D4EABF"/>
                </a:solidFill>
                <a:latin typeface="Georgia"/>
                <a:ea typeface="Georgia"/>
                <a:cs typeface="Georgia"/>
              </a:rPr>
              <a:t>github.com/yu-xin-c/hy3-game-test-lab</a:t>
            </a:r>
          </a:p>
        </p:txBody>
      </p:sp>
    </p:spTree>
    <p:extLst>
      <p:ext uri="{BB962C8B-B14F-4D97-AF65-F5344CB8AC3E}">
        <p14:creationId xmlns:p14="http://schemas.microsoft.com/office/powerpoint/2010/main" val="1187657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2026-09-15T09:46:56.0500000Z</dcterms:created>
  <dcterms:modified xsi:type="dcterms:W3CDTF">2026-09-15T09:46:56.0500000Z</dcterms:modified>
</coreProperties>
</file>