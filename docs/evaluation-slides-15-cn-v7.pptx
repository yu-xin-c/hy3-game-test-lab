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3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4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5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56dee4f40dd4117" /><Relationship Type="http://schemas.openxmlformats.org/officeDocument/2006/relationships/extended-properties" Target="/docProps/app.xml" Id="R015fd79b1dc240ca" /><Relationship Type="http://schemas.openxmlformats.org/officeDocument/2006/relationships/officeDocument" Target="/ppt/presentation.xml" Id="Re0270d6d39c14fe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60ee2fa4ba44005"/>
  </p:sldMasterIdLst>
  <p:notesMasterIdLst>
    <p:notesMasterId xmlns:r="http://schemas.openxmlformats.org/officeDocument/2006/relationships" r:id="Rba0b24bb38ed4053"/>
  </p:notesMasterIdLst>
  <p:sldIdLst>
    <p:sldId xmlns:r="http://schemas.openxmlformats.org/officeDocument/2006/relationships" id="256" r:id="Rec37908a86104df9"/>
    <p:sldId xmlns:r="http://schemas.openxmlformats.org/officeDocument/2006/relationships" id="257" r:id="Rf7a1e4b6317240dd"/>
    <p:sldId xmlns:r="http://schemas.openxmlformats.org/officeDocument/2006/relationships" id="258" r:id="Rb5eda561e9f6464c"/>
    <p:sldId xmlns:r="http://schemas.openxmlformats.org/officeDocument/2006/relationships" id="259" r:id="Rb47abc6f4d7d4b78"/>
    <p:sldId xmlns:r="http://schemas.openxmlformats.org/officeDocument/2006/relationships" id="260" r:id="R6b598b5b273042bf"/>
    <p:sldId xmlns:r="http://schemas.openxmlformats.org/officeDocument/2006/relationships" id="261" r:id="Rcd3891bbff58429d"/>
    <p:sldId xmlns:r="http://schemas.openxmlformats.org/officeDocument/2006/relationships" id="262" r:id="R02207614768342f2"/>
    <p:sldId xmlns:r="http://schemas.openxmlformats.org/officeDocument/2006/relationships" id="263" r:id="Rb5dfcc9712204663"/>
    <p:sldId xmlns:r="http://schemas.openxmlformats.org/officeDocument/2006/relationships" id="264" r:id="R3edaa714303748e6"/>
    <p:sldId xmlns:r="http://schemas.openxmlformats.org/officeDocument/2006/relationships" id="265" r:id="R357e1d0d40494f8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826fd12c71c48ea" /><Relationship Type="http://schemas.openxmlformats.org/officeDocument/2006/relationships/slideMaster" Target="/ppt/slideMasters/slideMaster1.xml" Id="R760ee2fa4ba44005" /><Relationship Type="http://schemas.openxmlformats.org/officeDocument/2006/relationships/notesMaster" Target="/ppt/notesMasters/notesMaster1.xml" Id="Rba0b24bb38ed4053" /><Relationship Type="http://schemas.openxmlformats.org/officeDocument/2006/relationships/presProps" Target="/ppt/presProps.xml" Id="R99d5c217d3364f1d" /><Relationship Type="http://schemas.openxmlformats.org/officeDocument/2006/relationships/tableStyles" Target="/ppt/tableStyles.xml" Id="Rc438949c2cb64d7b" /><Relationship Type="http://schemas.openxmlformats.org/officeDocument/2006/relationships/slide" Target="/ppt/slides/slide1.xml" Id="Rec37908a86104df9" /><Relationship Type="http://schemas.openxmlformats.org/officeDocument/2006/relationships/slide" Target="/ppt/slides/slide2.xml" Id="Rf7a1e4b6317240dd" /><Relationship Type="http://schemas.openxmlformats.org/officeDocument/2006/relationships/slide" Target="/ppt/slides/slide3.xml" Id="Rb5eda561e9f6464c" /><Relationship Type="http://schemas.openxmlformats.org/officeDocument/2006/relationships/slide" Target="/ppt/slides/slide4.xml" Id="Rb47abc6f4d7d4b78" /><Relationship Type="http://schemas.openxmlformats.org/officeDocument/2006/relationships/slide" Target="/ppt/slides/slide5.xml" Id="R6b598b5b273042bf" /><Relationship Type="http://schemas.openxmlformats.org/officeDocument/2006/relationships/slide" Target="/ppt/slides/slide6.xml" Id="Rcd3891bbff58429d" /><Relationship Type="http://schemas.openxmlformats.org/officeDocument/2006/relationships/slide" Target="/ppt/slides/slide7.xml" Id="R02207614768342f2" /><Relationship Type="http://schemas.openxmlformats.org/officeDocument/2006/relationships/slide" Target="/ppt/slides/slide8.xml" Id="Rb5dfcc9712204663" /><Relationship Type="http://schemas.openxmlformats.org/officeDocument/2006/relationships/slide" Target="/ppt/slides/slide9.xml" Id="R3edaa714303748e6" /><Relationship Type="http://schemas.openxmlformats.org/officeDocument/2006/relationships/slide" Target="/ppt/slides/slide10.xml" Id="R357e1d0d40494f8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3518a3d76eb49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75ecd46f54f493b" /><Relationship Type="http://schemas.openxmlformats.org/officeDocument/2006/relationships/notesMaster" Target="/ppt/notesMasters/notesMaster1.xml" Id="R59212e2c33b7429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4a59cdfe06a4c39" /><Relationship Type="http://schemas.openxmlformats.org/officeDocument/2006/relationships/notesMaster" Target="/ppt/notesMasters/notesMaster1.xml" Id="Rbcbc9f506a5a4ff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6c0de2c2f554848" /><Relationship Type="http://schemas.openxmlformats.org/officeDocument/2006/relationships/notesMaster" Target="/ppt/notesMasters/notesMaster1.xml" Id="Refa17b7b2935438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70cc80927a84536" /><Relationship Type="http://schemas.openxmlformats.org/officeDocument/2006/relationships/notesMaster" Target="/ppt/notesMasters/notesMaster1.xml" Id="Rf2fc4577b9aa4ab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8db0b8d8b594ba7" /><Relationship Type="http://schemas.openxmlformats.org/officeDocument/2006/relationships/notesMaster" Target="/ppt/notesMasters/notesMaster1.xml" Id="Rb62c254c37784b7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496329f4496420a" /><Relationship Type="http://schemas.openxmlformats.org/officeDocument/2006/relationships/notesMaster" Target="/ppt/notesMasters/notesMaster1.xml" Id="Rb2668ecfd7ca494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62b6f2dd9a9427b" /><Relationship Type="http://schemas.openxmlformats.org/officeDocument/2006/relationships/notesMaster" Target="/ppt/notesMasters/notesMaster1.xml" Id="R4886ef6249b0498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6bb4b66d8ec4d9d" /><Relationship Type="http://schemas.openxmlformats.org/officeDocument/2006/relationships/notesMaster" Target="/ppt/notesMasters/notesMaster1.xml" Id="Rd18d31ca801d417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6fd2fa1514c4927" /><Relationship Type="http://schemas.openxmlformats.org/officeDocument/2006/relationships/notesMaster" Target="/ppt/notesMasters/notesMaster1.xml" Id="R46bd4dc97e8149b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930ee8e9675470e" /><Relationship Type="http://schemas.openxmlformats.org/officeDocument/2006/relationships/notesMaster" Target="/ppt/notesMasters/notesMaster1.xml" Id="R5ed15430df6743e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正式范围：results/process-15-v1/scope.json；15 题全部完成见 results/process-15-v1/FINAL.md。历史 96 题不并入本报告。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来源：results/process-15-v1/final-summary.json 的 scope。题集来源与分层依据见 results/process-15-v1/FINAL.md。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过程定义与证据追溯：docs/process-evaluation.md、reports/analysis-report.md。公开编号方案先于代码；工具日志需与最终文件一致。观察桥只收集证据，玩家操作来自真实浏览器。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粒子乐队：results/process-15-v1/particle-orchestra/score-plan-claim.json；results/process-15-v1/PROCESS-VALIDITY.md。公开规则每次 +25；方案和实现 +100 额外终局分；三次 Chromium 终分 200。这里只核对选定计分主张，不把整份方案当已穷尽验证。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种位置不一一对应：docs/process-evaluation.md。浏览器首错是首个可观察偏离，方案首错是公开主张首个有独立反例的步骤，代码写入只作来源追溯，不能证明内部推理首错。题面歧义或判据风险不记作确定游戏缺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所有分母和口径：results/process-15-v1/final-summary.json。原固定路径含已核实的输入、私有断言和 observe 字段问题；声明文件合规也不保证完整运行接口合规。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来源：results/process-15-v1/final-summary.json 的 difficulty_rows 与 difficulty_boundary。各难度分母和未知项未合并。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来源：results/process-15-v1/final-summary.json 的 supported_model_finding_types；分类口径与限制见 results/process-15-v1/FINAL.md。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来源：results/process-15-v1/particle-orchestra/score-plan-claim.json。三次浏览器终局均为 200；标准 100 仅针对选出的公开计分断言，不代表整份方案穷尽标准。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三份公开方案子断言标准与复核结果：results/process-15-v1/PROCESS-VALIDITY.md。2048 补充混元提示不同，不能与原始全题复核合并；这里只描述已核对的一个正确核心游戏、错误过程单例。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1bc8d5a4a04ca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103f0a26e7149f3" /><Relationship Type="http://schemas.openxmlformats.org/officeDocument/2006/relationships/slideLayout" Target="/ppt/slideLayouts/slideLayout1.xml" Id="R07b51f0e393b4e5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7b51f0e393b4e5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97f15d80534980" /><Relationship Type="http://schemas.openxmlformats.org/officeDocument/2006/relationships/image" Target="/ppt/media/image.png" Id="Rd3a58fe6d13841b2" /><Relationship Type="http://schemas.openxmlformats.org/officeDocument/2006/relationships/notesSlide" Target="/ppt/notesSlides/notesSlide1.xml" Id="R98d14728021a4ec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32d7e067b341a4" /><Relationship Type="http://schemas.openxmlformats.org/officeDocument/2006/relationships/chart" Target="/ppt/slides/charts/chart1.xml" Id="R37bfcf146047425b" /><Relationship Type="http://schemas.openxmlformats.org/officeDocument/2006/relationships/image" Target="/ppt/media/image2.png" Id="Rfbd17db9ebda4471" /><Relationship Type="http://schemas.openxmlformats.org/officeDocument/2006/relationships/image" Target="/ppt/media/image3.png" Id="R4d10c5d4d17a45b6" /><Relationship Type="http://schemas.openxmlformats.org/officeDocument/2006/relationships/image" Target="/ppt/media/image4.png" Id="Rc9ec05395cf64adc" /><Relationship Type="http://schemas.openxmlformats.org/officeDocument/2006/relationships/notesSlide" Target="/ppt/notesSlides/notesSlide2.xml" Id="R5984f8114e3a4f5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9f3be7fc1742d2" /><Relationship Type="http://schemas.openxmlformats.org/officeDocument/2006/relationships/notesSlide" Target="/ppt/notesSlides/notesSlide3.xml" Id="R96c682ba8c254f6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c96c6308704a3e" /><Relationship Type="http://schemas.openxmlformats.org/officeDocument/2006/relationships/image" Target="/ppt/media/image5.png" Id="R2dc96a58f0ad4e69" /><Relationship Type="http://schemas.openxmlformats.org/officeDocument/2006/relationships/notesSlide" Target="/ppt/notesSlides/notesSlide4.xml" Id="Rdeb56275852b463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d5eaded8e84996" /><Relationship Type="http://schemas.openxmlformats.org/officeDocument/2006/relationships/image" Target="/ppt/media/image6.png" Id="R4d01c8eb81e644a3" /><Relationship Type="http://schemas.openxmlformats.org/officeDocument/2006/relationships/notesSlide" Target="/ppt/notesSlides/notesSlide5.xml" Id="Rfcdd633a9e924f6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9c2db962d74779" /><Relationship Type="http://schemas.openxmlformats.org/officeDocument/2006/relationships/chart" Target="/ppt/slides/charts/chart2.xml" Id="R2f5a87f443bd4bc4" /><Relationship Type="http://schemas.openxmlformats.org/officeDocument/2006/relationships/notesSlide" Target="/ppt/notesSlides/notesSlide6.xml" Id="Re97e5e0d4788430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0f7394cf074d7c" /><Relationship Type="http://schemas.openxmlformats.org/officeDocument/2006/relationships/chart" Target="/ppt/slides/charts/chart3.xml" Id="Re8544a1403eb4c7f" /><Relationship Type="http://schemas.openxmlformats.org/officeDocument/2006/relationships/notesSlide" Target="/ppt/notesSlides/notesSlide7.xml" Id="R48e142152f9a4e6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6942fc3b444ebb" /><Relationship Type="http://schemas.openxmlformats.org/officeDocument/2006/relationships/chart" Target="/ppt/slides/charts/chart4.xml" Id="Ra5092761143c4c99" /><Relationship Type="http://schemas.openxmlformats.org/officeDocument/2006/relationships/notesSlide" Target="/ppt/notesSlides/notesSlide8.xml" Id="Rd196d4aa08cd43f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01637e68ca49ef" /><Relationship Type="http://schemas.openxmlformats.org/officeDocument/2006/relationships/chart" Target="/ppt/slides/charts/chart5.xml" Id="Rc63a3cb976a441bd" /><Relationship Type="http://schemas.openxmlformats.org/officeDocument/2006/relationships/notesSlide" Target="/ppt/notesSlides/notesSlide9.xml" Id="Rc954a4c2c4214ed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9d5d34a9884d66" /><Relationship Type="http://schemas.openxmlformats.org/officeDocument/2006/relationships/image" Target="/ppt/media/image7.png" Id="R31232399f3c74e03" /><Relationship Type="http://schemas.openxmlformats.org/officeDocument/2006/relationships/notesSlide" Target="/ppt/notesSlides/notesSlide10.xml" Id="R3000f9400d0b491d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题数</c:v>
          </c:tx>
          <c:spPr>
            <a:solidFill xmlns:a="http://schemas.openxmlformats.org/drawingml/2006/main">
              <a:srgbClr val="0B0E0F"/>
            </a:solidFill>
          </c:spPr>
          <c:cat>
            <c:strRef>
              <c:f>'Chart Data'!$A$2:$A$5</c:f>
              <c:strCache>
                <c:ptCount val="4"/>
                <c:pt idx="0">
                  <c:v>动作</c:v>
                </c:pt>
                <c:pt idx="1">
                  <c:v>益智</c:v>
                </c:pt>
                <c:pt idx="2">
                  <c:v>创意</c:v>
                </c:pt>
                <c:pt idx="3">
                  <c:v>模拟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6</c:v>
                </c:pt>
                <c:pt idx="1">
                  <c:v>5</c:v>
                </c:pt>
                <c:pt idx="2">
                  <c:v>2</c:v>
                </c:pt>
                <c:pt idx="3">
                  <c:v>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 b="1">
                  <a:solidFill>
                    <a:srgbClr val="0B0E0F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7"/>
          <c:min val="0"/>
        </c:scaling>
        <c:delete val="0"/>
        <c:axPos val="l"/>
        <c:numFmt formatCode="General"/>
        <c:majorTickMark val="none"/>
        <c:minorTickMark val="none"/>
        <c:tickLblPos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F4F2EA"/>
        </a:solidFill>
      </c:spPr>
    </c:plotArea>
    <c:plotVisOnly val="1"/>
  </c:chart>
  <c:spPr>
    <a:solidFill xmlns:a="http://schemas.openxmlformats.org/drawingml/2006/main">
      <a:srgbClr val="F4F2EA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stacked"/>
        <c:varyColors val="0"/>
        <c:ser>
          <c:idx val="0"/>
          <c:order val="0"/>
          <c:tx>
            <c:v>判正确</c:v>
          </c:tx>
          <c:spPr>
            <a:solidFill xmlns:a="http://schemas.openxmlformats.org/drawingml/2006/main">
              <a:srgbClr val="5B8C14"/>
            </a:solidFill>
          </c:spPr>
          <c:cat>
            <c:strRef>
              <c:f>'Chart Data'!$A$2:$A$3</c:f>
              <c:strCache>
                <c:ptCount val="2"/>
                <c:pt idx="0">
                  <c:v>最终游戏</c:v>
                </c:pt>
                <c:pt idx="1">
                  <c:v>公开方案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4</c:v>
                </c:pt>
                <c:pt idx="1">
                  <c:v>6</c:v>
                </c:pt>
              </c:numCache>
            </c:numRef>
          </c:val>
        </c:ser>
        <c:ser>
          <c:idx val="1"/>
          <c:order val="1"/>
          <c:tx>
            <c:v>判错误</c:v>
          </c:tx>
          <c:spPr>
            <a:solidFill xmlns:a="http://schemas.openxmlformats.org/drawingml/2006/main">
              <a:srgbClr val="FF624A"/>
            </a:solidFill>
          </c:spPr>
          <c:cat>
            <c:strRef>
              <c:f>'Chart Data'!$C$2:$C$3</c:f>
              <c:strCache>
                <c:ptCount val="2"/>
                <c:pt idx="0">
                  <c:v>最终游戏</c:v>
                </c:pt>
                <c:pt idx="1">
                  <c:v>公开方案</c:v>
                </c:pt>
              </c:strCache>
            </c:strRef>
          </c:cat>
          <c:val>
            <c:numRef>
              <c:f>'Chart Data'!$D$2:$D$3</c:f>
              <c:numCache>
                <c:formatCode>General</c:formatCode>
                <c:ptCount val="2"/>
                <c:pt idx="0">
                  <c:v>7</c:v>
                </c:pt>
                <c:pt idx="1">
                  <c:v>6</c:v>
                </c:pt>
              </c:numCache>
            </c:numRef>
          </c:val>
        </c:ser>
        <c:ser>
          <c:idx val="2"/>
          <c:order val="2"/>
          <c:tx>
            <c:v>未判定</c:v>
          </c:tx>
          <c:spPr>
            <a:solidFill xmlns:a="http://schemas.openxmlformats.org/drawingml/2006/main">
              <a:srgbClr val="9DA39D"/>
            </a:solidFill>
          </c:spPr>
          <c:cat>
            <c:strRef>
              <c:f>'Chart Data'!$E$2:$E$3</c:f>
              <c:strCache>
                <c:ptCount val="2"/>
                <c:pt idx="0">
                  <c:v>最终游戏</c:v>
                </c:pt>
                <c:pt idx="1">
                  <c:v>公开方案</c:v>
                </c:pt>
              </c:strCache>
            </c:strRef>
          </c:cat>
          <c:val>
            <c:numRef>
              <c:f>'Chart Data'!$F$2:$F$3</c:f>
              <c:numCache>
                <c:formatCode>General</c:formatCode>
                <c:ptCount val="2"/>
                <c:pt idx="0">
                  <c:v>4</c:v>
                </c:pt>
                <c:pt idx="1">
                  <c:v>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 b="1">
                  <a:solidFill>
                    <a:srgbClr val="FFFDF6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5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5"/>
          <c:min val="0"/>
        </c:scaling>
        <c:delete val="0"/>
        <c:axPos val="l"/>
        <c:numFmt formatCode="General"/>
        <c:majorTickMark val="none"/>
        <c:minorTickMark val="none"/>
        <c:tickLblPos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F4F2EA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solidFill>
                <a:srgbClr val="0B0E0F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4F2EA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stacked"/>
        <c:varyColors val="0"/>
        <c:ser>
          <c:idx val="0"/>
          <c:order val="0"/>
          <c:tx>
            <c:v>最终判正确</c:v>
          </c:tx>
          <c:spPr>
            <a:solidFill xmlns:a="http://schemas.openxmlformats.org/drawingml/2006/main">
              <a:srgbClr val="B7FF43"/>
            </a:solidFill>
          </c:spPr>
          <c:cat>
            <c:strRef>
              <c:f>'Chart Data'!$A$2:$A$4</c:f>
              <c:strCache>
                <c:ptCount val="3"/>
                <c:pt idx="0">
                  <c:v>基础 4 题</c:v>
                </c:pt>
                <c:pt idx="1">
                  <c:v>中等 6 题</c:v>
                </c:pt>
                <c:pt idx="2">
                  <c:v>高难 5 题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</c:v>
                </c:pt>
                <c:pt idx="1">
                  <c:v>0</c:v>
                </c:pt>
                <c:pt idx="2">
                  <c:v>3</c:v>
                </c:pt>
              </c:numCache>
            </c:numRef>
          </c:val>
        </c:ser>
        <c:ser>
          <c:idx val="1"/>
          <c:order val="1"/>
          <c:tx>
            <c:v>最终判错误</c:v>
          </c:tx>
          <c:spPr>
            <a:solidFill xmlns:a="http://schemas.openxmlformats.org/drawingml/2006/main">
              <a:srgbClr val="FF624A"/>
            </a:solidFill>
          </c:spPr>
          <c:cat>
            <c:strRef>
              <c:f>'Chart Data'!$C$2:$C$4</c:f>
              <c:strCache>
                <c:ptCount val="3"/>
                <c:pt idx="0">
                  <c:v>基础 4 题</c:v>
                </c:pt>
                <c:pt idx="1">
                  <c:v>中等 6 题</c:v>
                </c:pt>
                <c:pt idx="2">
                  <c:v>高难 5 题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2</c:v>
                </c:pt>
              </c:numCache>
            </c:numRef>
          </c:val>
        </c:ser>
        <c:ser>
          <c:idx val="2"/>
          <c:order val="2"/>
          <c:tx>
            <c:v>未判定</c:v>
          </c:tx>
          <c:spPr>
            <a:solidFill xmlns:a="http://schemas.openxmlformats.org/drawingml/2006/main">
              <a:srgbClr val="6B7474"/>
            </a:solidFill>
          </c:spPr>
          <c:cat>
            <c:strRef>
              <c:f>'Chart Data'!$E$2:$E$4</c:f>
              <c:strCache>
                <c:ptCount val="3"/>
                <c:pt idx="0">
                  <c:v>基础 4 题</c:v>
                </c:pt>
                <c:pt idx="1">
                  <c:v>中等 6 题</c:v>
                </c:pt>
                <c:pt idx="2">
                  <c:v>高难 5 题</c:v>
                </c:pt>
              </c:strCache>
            </c:strRef>
          </c:cat>
          <c:val>
            <c:numRef>
              <c:f>'Chart Data'!$F$2:$F$4</c:f>
              <c:numCache>
                <c:formatCode>General</c:formatCode>
                <c:ptCount val="3"/>
                <c:pt idx="0">
                  <c:v>1</c:v>
                </c:pt>
                <c:pt idx="1">
                  <c:v>3</c:v>
                </c:pt>
                <c:pt idx="2">
                  <c:v>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 b="1">
                  <a:solidFill>
                    <a:srgbClr val="FFFDF6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FDF6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6"/>
          <c:min val="0"/>
        </c:scaling>
        <c:delete val="0"/>
        <c:axPos val="l"/>
        <c:numFmt formatCode="General"/>
        <c:majorTickMark val="none"/>
        <c:minorTickMark val="none"/>
        <c:tickLblPos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111719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solidFill>
                <a:srgbClr val="FFFDF6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111719"/>
    </a:solidFill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标记条数</c:v>
          </c:tx>
          <c:spPr>
            <a:solidFill xmlns:a="http://schemas.openxmlformats.org/drawingml/2006/main">
              <a:srgbClr val="FF624A"/>
            </a:solidFill>
          </c:spPr>
          <c:cat>
            <c:strRef>
              <c:f>'Chart Data'!$A$2:$A$4</c:f>
              <c:strCache>
                <c:ptCount val="3"/>
                <c:pt idx="0">
                  <c:v>实现不符</c:v>
                </c:pt>
                <c:pt idx="1">
                  <c:v>错误假设</c:v>
                </c:pt>
                <c:pt idx="2">
                  <c:v>题意误读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12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 b="1">
                  <a:solidFill>
                    <a:srgbClr val="0B0E0F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3"/>
          <c:min val="0"/>
        </c:scaling>
        <c:delete val="0"/>
        <c:axPos val="l"/>
        <c:numFmt formatCode="General"/>
        <c:majorTickMark val="none"/>
        <c:minorTickMark val="none"/>
        <c:tickLblPos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4F2EA"/>
        </a:solidFill>
      </c:spPr>
    </c:plotArea>
    <c:plotVisOnly val="1"/>
  </c:chart>
  <c:spPr>
    <a:solidFill xmlns:a="http://schemas.openxmlformats.org/drawingml/2006/main">
      <a:srgbClr val="F4F2EA"/>
    </a:solidFill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终局分数</c:v>
          </c:tx>
          <c:spPr>
            <a:solidFill xmlns:a="http://schemas.openxmlformats.org/drawingml/2006/main">
              <a:srgbClr val="FF624A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B7FF43"/>
              </a:solidFill>
            </c:spPr>
          </c:dPt>
          <c:cat>
            <c:strRef>
              <c:f>'Chart Data'!$A$2:$A$6</c:f>
              <c:strCache>
                <c:ptCount val="5"/>
                <c:pt idx="0">
                  <c:v>公开标准</c:v>
                </c:pt>
                <c:pt idx="1">
                  <c:v>方案预计</c:v>
                </c:pt>
                <c:pt idx="2">
                  <c:v>试玩一</c:v>
                </c:pt>
                <c:pt idx="3">
                  <c:v>试玩二</c:v>
                </c:pt>
                <c:pt idx="4">
                  <c:v>试玩三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100</c:v>
                </c:pt>
                <c:pt idx="1">
                  <c:v>200</c:v>
                </c:pt>
                <c:pt idx="2">
                  <c:v>200</c:v>
                </c:pt>
                <c:pt idx="3">
                  <c:v>200</c:v>
                </c:pt>
                <c:pt idx="4">
                  <c:v>200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 b="1">
                  <a:solidFill>
                    <a:srgbClr val="FFFDF6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DF6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220"/>
          <c:min val="0"/>
        </c:scaling>
        <c:delete val="0"/>
        <c:axPos val="l"/>
        <c:numFmt formatCode="General"/>
        <c:majorTickMark val="none"/>
        <c:minorTickMark val="none"/>
        <c:tickLblPos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50"/>
      </c:valAx>
      <c:spPr>
        <a:solidFill xmlns:a="http://schemas.openxmlformats.org/drawingml/2006/main">
          <a:srgbClr val="111719"/>
        </a:solidFill>
      </c:spPr>
    </c:plotArea>
    <c:plotVisOnly val="1"/>
  </c:chart>
  <c:spPr>
    <a:solidFill xmlns:a="http://schemas.openxmlformats.org/drawingml/2006/main">
      <a:srgbClr val="111719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7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a58fe6d13841b2"/>
          <a:srcRect xmlns:a="http://schemas.openxmlformats.org/drawingml/2006/main" l="20750" t="0" r="207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880284-AE58-47B6-820C-689CFAF6E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FF43"/>
          </a:solidFill>
          <a:ln xmlns:a="http://schemas.openxmlformats.org/drawingml/2006/main" w="0">
            <a:solidFill>
              <a:srgbClr val="B7FF4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282985-272A-4388-8CC5-923806F8B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7FF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B7FF43"/>
                </a:solidFill>
                <a:latin typeface="Arial Unicode MS"/>
                <a:ea typeface="Arial Unicode MS"/>
                <a:cs typeface="Arial Unicode MS"/>
              </a:rPr>
              <a:t>混元游戏生成实验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57D426-EE32-4A07-A565-1CBA18D1D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6191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FFDF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200" b="1">
                <a:solidFill>
                  <a:srgbClr val="FFFDF6"/>
                </a:solidFill>
                <a:latin typeface="Arial Unicode MS"/>
                <a:ea typeface="Arial Unicode MS"/>
                <a:cs typeface="Arial Unicode MS"/>
              </a:rPr>
              <a:t>不只看</a:t>
            </a:r>
          </a:p>
          <a:p xmlns:a="http://schemas.openxmlformats.org/drawingml/2006/main">
            <a:pPr>
              <a:defRPr sz="4200" b="1">
                <a:solidFill>
                  <a:srgbClr val="FFFDF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200" b="1">
                <a:solidFill>
                  <a:srgbClr val="FFFDF6"/>
                </a:solidFill>
                <a:latin typeface="Arial Unicode MS"/>
                <a:ea typeface="Arial Unicode MS"/>
                <a:cs typeface="Arial Unicode MS"/>
              </a:rPr>
              <a:t>游戏能不能赢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0D37AA-AC1B-47D4-A12D-86E16722D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24200"/>
            <a:ext cx="590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B7FF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B7FF43"/>
                </a:solidFill>
                <a:latin typeface="Arial Unicode MS"/>
                <a:ea typeface="Arial Unicode MS"/>
                <a:cs typeface="Arial Unicode MS"/>
              </a:rPr>
              <a:t>还要找到玩法从哪一步开始写错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0E52DC-C686-4103-9A29-35A02D7CA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67175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A525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104BBD-5682-4401-B18E-B1CB2C7AA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DF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FFFDF6"/>
                </a:solidFill>
                <a:latin typeface="Arial Unicode MS"/>
                <a:ea typeface="Arial Unicode MS"/>
                <a:cs typeface="Arial Unicode MS"/>
              </a:rPr>
              <a:t>15 道固定游戏题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8DFD51-7864-488C-B690-865E38E56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600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CDD2C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CDD2CF"/>
                </a:solidFill>
                <a:latin typeface="Arial Unicode MS"/>
                <a:ea typeface="Arial Unicode MS"/>
                <a:cs typeface="Arial Unicode MS"/>
              </a:rPr>
              <a:t>混元生成与复核 · 浏览器真实操作 · 方案和代码可追溯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80AB73-9B69-4931-BB47-1D585586A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600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19B9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919B98"/>
                </a:solidFill>
                <a:latin typeface="Arial Unicode MS"/>
                <a:ea typeface="Arial Unicode MS"/>
                <a:cs typeface="Arial Unicode MS"/>
              </a:rPr>
              <a:t>可验证场景：过程评估与错误定位</a:t>
            </a:r>
          </a:p>
        </p:txBody>
      </p:sp>
    </p:spTree>
    <p:extLst>
      <p:ext uri="{BB962C8B-B14F-4D97-AF65-F5344CB8AC3E}">
        <p14:creationId xmlns:p14="http://schemas.microsoft.com/office/powerpoint/2010/main" val="17938452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2F06D9-C6B9-4E59-9737-972B8B1F1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379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737972"/>
                </a:solidFill>
                <a:latin typeface="Arial Unicode MS"/>
                <a:ea typeface="Arial Unicode MS"/>
                <a:cs typeface="Arial Unicode MS"/>
              </a:rPr>
              <a:t>实验范围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3D4126-BBE3-42AF-A645-58AE94208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CC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158D11-5DAE-486C-B62A-2C456447E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3345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rPr>
              <a:t>十五题，覆盖四类玩法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024635-5EF5-4099-8876-793285934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47850"/>
            <a:ext cx="2762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400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400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B19404-F8A9-4D1D-9BED-7F5B41D85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7379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737972"/>
                </a:solidFill>
                <a:latin typeface="Arial Unicode MS"/>
                <a:ea typeface="Arial Unicode MS"/>
                <a:cs typeface="Arial Unicode MS"/>
              </a:rPr>
              <a:t>道固定题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EB210C-BECE-4863-8F65-FBF118B5B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86200"/>
            <a:ext cx="2381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rPr>
              <a:t>基础 4 题</a:t>
            </a:r>
          </a:p>
          <a:p xmlns:a="http://schemas.openxmlformats.org/drawingml/2006/main">
            <a:pPr>
              <a:defRPr sz="1800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rPr>
              <a:t>中等 6 题</a:t>
            </a:r>
          </a:p>
          <a:p xmlns:a="http://schemas.openxmlformats.org/drawingml/2006/main">
            <a:pPr>
              <a:defRPr sz="1800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rPr>
              <a:t>高难 5 题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3333750" y="1762125"/>
          <a:ext xmlns:a="http://schemas.openxmlformats.org/drawingml/2006/main" cx="7810500" cy="2952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7bfcf146047425b"/>
          </a:graphicData>
        </a:graphic>
      </p:graphicFrame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d17db9ebda4471"/>
          <a:srcRect xmlns:a="http://schemas.openxmlformats.org/drawingml/2006/main" l="0" t="21347" r="0" b="213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5048250"/>
            <a:ext cx="2400300" cy="1200150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10c5d4d17a45b6"/>
          <a:srcRect xmlns:a="http://schemas.openxmlformats.org/drawingml/2006/main" l="0" t="16667" r="0" b="16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86450" y="5048250"/>
            <a:ext cx="2400300" cy="1200150"/>
          </a:xfrm>
          <a:prstGeom xmlns:a="http://schemas.openxmlformats.org/drawingml/2006/main" prst="rect">
            <a:avLst/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ec05395cf64adc"/>
          <a:srcRect xmlns:a="http://schemas.openxmlformats.org/drawingml/2006/main" l="0" t="16667" r="0" b="16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39150" y="5048250"/>
            <a:ext cx="2400300" cy="12001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E06F26-6970-4B16-8A87-9FE234447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34125"/>
            <a:ext cx="1081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379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737972"/>
                </a:solidFill>
                <a:latin typeface="Arial Unicode MS"/>
                <a:ea typeface="Arial Unicode MS"/>
                <a:cs typeface="Arial Unicode MS"/>
              </a:rPr>
              <a:t>不含摄像头、视频和语音任务；按冻结清单顺序选取，不做代表性抽样。</a:t>
            </a:r>
          </a:p>
        </p:txBody>
      </p:sp>
    </p:spTree>
    <p:extLst>
      <p:ext uri="{BB962C8B-B14F-4D97-AF65-F5344CB8AC3E}">
        <p14:creationId xmlns:p14="http://schemas.microsoft.com/office/powerpoint/2010/main" val="11524058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7FFDA2-D6B5-4D72-B9A6-8644C4E93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379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737972"/>
                </a:solidFill>
                <a:latin typeface="Arial Unicode MS"/>
                <a:ea typeface="Arial Unicode MS"/>
                <a:cs typeface="Arial Unicode MS"/>
              </a:rPr>
              <a:t>评估对象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21A078-73D7-4FA0-91B2-CEBE042D3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CC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9640DE-150B-424D-B41D-7C188679B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3345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rPr>
              <a:t>审计留下来的生成过程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F35724-96D9-4BDA-8079-D805AA9B0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7379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737972"/>
                </a:solidFill>
                <a:latin typeface="Arial Unicode MS"/>
                <a:ea typeface="Arial Unicode MS"/>
                <a:cs typeface="Arial Unicode MS"/>
              </a:rPr>
              <a:t>不是猜模型脑子里想了什么，而是检查它实际留下的方案、文件和试玩结果。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BDFB39-7CE7-4D98-9E5F-7CBAF7C1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838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646A13-4CD2-4634-9ECA-C6F74AF1C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2669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rPr>
              <a:t>题目和标准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3E6576-8EB9-4209-BEAA-3EB1C80EF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76475"/>
            <a:ext cx="638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7379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737972"/>
                </a:solidFill>
                <a:latin typeface="Arial Unicode MS"/>
                <a:ea typeface="Arial Unicode MS"/>
                <a:cs typeface="Arial Unicode MS"/>
              </a:rPr>
              <a:t>公开玩法要求给混元，私有检查留到生成后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A8CB0B-41A8-4881-968F-225FCF6EC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819400"/>
            <a:ext cx="9458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CC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1D9C22-6756-4CE3-A523-E830C4307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28975"/>
            <a:ext cx="838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2E8E89-9AD8-4E1D-984A-786AB0692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2289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rPr>
              <a:t>编号方案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9864AF-D85B-4DB4-BCA2-D6C63A2E6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38500"/>
            <a:ext cx="638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7379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737972"/>
                </a:solidFill>
                <a:latin typeface="Arial Unicode MS"/>
                <a:ea typeface="Arial Unicode MS"/>
                <a:cs typeface="Arial Unicode MS"/>
              </a:rPr>
              <a:t>每一步写明要做什么、怎样判断做对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8C498D-53FD-4283-A31D-4095B39F9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781425"/>
            <a:ext cx="9458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C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A017DB-462C-4C70-98C6-F957FCA9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838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554BAF-FBCB-42C3-B649-95DB45184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1910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rPr>
              <a:t>代码记录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F2C9DC-C04C-4013-920D-8DFB15DFE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00525"/>
            <a:ext cx="638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7379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737972"/>
                </a:solidFill>
                <a:latin typeface="Arial Unicode MS"/>
                <a:ea typeface="Arial Unicode MS"/>
                <a:cs typeface="Arial Unicode MS"/>
              </a:rPr>
              <a:t>保存文件写入、修改顺序和最终哈希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9F5980-62CF-462A-B79F-A803EB307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743450"/>
            <a:ext cx="9458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CC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42B007-5286-4211-AA94-C8462BE3F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53025"/>
            <a:ext cx="838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5B8C1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5B8C14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A2052B-D791-4924-900E-C210ED58D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1530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rPr>
              <a:t>试玩复核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CA9F5D-35F7-4095-8834-6A23FCF4A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162550"/>
            <a:ext cx="638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7379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737972"/>
                </a:solidFill>
                <a:latin typeface="Arial Unicode MS"/>
                <a:ea typeface="Arial Unicode MS"/>
                <a:cs typeface="Arial Unicode MS"/>
              </a:rPr>
              <a:t>真实浏览器输入找反例，再由混元检查方案和代码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3F6F05-03B4-4BC8-9D34-74859C061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705475"/>
            <a:ext cx="9458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CC3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377069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117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A9F266-1B8B-4482-A771-4FCE6E4B8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7FF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B7FF43"/>
                </a:solidFill>
                <a:latin typeface="Arial Unicode MS"/>
                <a:ea typeface="Arial Unicode MS"/>
                <a:cs typeface="Arial Unicode MS"/>
              </a:rPr>
              <a:t>一条主张怎样受检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2A1E9B-5AA3-457C-A877-DA5E44F2C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A444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5A8793-4617-4DFD-A81E-D6F30D7BC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5250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DF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FFFDF6"/>
                </a:solidFill>
                <a:latin typeface="Arial Unicode MS"/>
                <a:ea typeface="Arial Unicode MS"/>
                <a:cs typeface="Arial Unicode MS"/>
              </a:rPr>
              <a:t>粒子乐队：计分从方案第三步开始错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5776E2-2059-44FD-A9E5-4B0AA599B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714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CD3D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CCD3D0"/>
                </a:solidFill>
                <a:latin typeface="Arial Unicode MS"/>
                <a:ea typeface="Arial Unicode MS"/>
                <a:cs typeface="Arial Unicode MS"/>
              </a:rPr>
              <a:t>四次正确输入，每次 +25。公开规则可直接算出终分 100。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c96a58f0ad4e69"/>
          <a:srcRect xmlns:a="http://schemas.openxmlformats.org/drawingml/2006/main" l="101" t="0" r="10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34375" y="1123950"/>
            <a:ext cx="3143250" cy="23622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68BD34-D40F-4518-9C49-EF2D6DB8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9075"/>
            <a:ext cx="2343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7FF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B7FF43"/>
                </a:solidFill>
                <a:latin typeface="Arial Unicode MS"/>
                <a:ea typeface="Arial Unicode MS"/>
                <a:cs typeface="Arial Unicode MS"/>
              </a:rPr>
              <a:t>公开规则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7DB3FF-3297-47F6-89D0-1F0CF8C6A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0075"/>
            <a:ext cx="2266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6606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C7293C-E704-4209-9A3C-CCF26D63F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DF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FFFDF6"/>
                </a:solidFill>
                <a:latin typeface="Arial Unicode MS"/>
                <a:ea typeface="Arial Unicode MS"/>
                <a:cs typeface="Arial Unicode MS"/>
              </a:rPr>
              <a:t>4 × 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85AA83-0663-4D19-B7C2-A97EFEAB2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9B1A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A9B1AE"/>
                </a:solidFill>
                <a:latin typeface="Arial Unicode MS"/>
                <a:ea typeface="Arial Unicode MS"/>
                <a:cs typeface="Arial Unicode MS"/>
              </a:rPr>
              <a:t>标准 100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5EB90A-5D76-4D68-96C4-658A9160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029075"/>
            <a:ext cx="2343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62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FF624A"/>
                </a:solidFill>
                <a:latin typeface="Arial Unicode MS"/>
                <a:ea typeface="Arial Unicode MS"/>
                <a:cs typeface="Arial Unicode MS"/>
              </a:rPr>
              <a:t>方案第 3 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007327-BF04-4CC0-9237-6D26D977E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410075"/>
            <a:ext cx="2266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62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C03D44-E542-469D-ADE2-57D4E4D3E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6291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DF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FFFDF6"/>
                </a:solidFill>
                <a:latin typeface="Arial Unicode MS"/>
                <a:ea typeface="Arial Unicode MS"/>
                <a:cs typeface="Arial Unicode MS"/>
              </a:rPr>
              <a:t>预计 200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77D495-6B72-4461-B527-74CDE9938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2197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62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624A"/>
                </a:solidFill>
                <a:latin typeface="Arial Unicode MS"/>
                <a:ea typeface="Arial Unicode MS"/>
                <a:cs typeface="Arial Unicode MS"/>
              </a:rPr>
              <a:t>第一次写错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9B6368-2A65-4A94-8871-79FD816C5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29075"/>
            <a:ext cx="2343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7FF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B7FF43"/>
                </a:solidFill>
                <a:latin typeface="Arial Unicode MS"/>
                <a:ea typeface="Arial Unicode MS"/>
                <a:cs typeface="Arial Unicode MS"/>
              </a:rPr>
              <a:t>代码实现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067137-DA50-4A4A-95B6-ED5F90521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10075"/>
            <a:ext cx="2266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6606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079AAB-AC96-4E97-8A74-7D180F8BB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6291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DF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FFFDF6"/>
                </a:solidFill>
                <a:latin typeface="Arial Unicode MS"/>
                <a:ea typeface="Arial Unicode MS"/>
                <a:cs typeface="Arial Unicode MS"/>
              </a:rPr>
              <a:t>又加 100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457BB8-2B7C-462C-8B02-FABC6A11B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2197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9B1A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A9B1AE"/>
                </a:solidFill>
                <a:latin typeface="Arial Unicode MS"/>
                <a:ea typeface="Arial Unicode MS"/>
                <a:cs typeface="Arial Unicode MS"/>
              </a:rPr>
              <a:t>沿用错误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EE7FB5-C002-44CB-AF19-51405D554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029075"/>
            <a:ext cx="2343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7FF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B7FF43"/>
                </a:solidFill>
                <a:latin typeface="Arial Unicode MS"/>
                <a:ea typeface="Arial Unicode MS"/>
                <a:cs typeface="Arial Unicode MS"/>
              </a:rPr>
              <a:t>浏览器试玩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985C10-2685-49E9-BFCE-E30578532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410075"/>
            <a:ext cx="2266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6606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EB8E0B-DA40-4CD1-886E-E2C8C694A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6291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DF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FFFDF6"/>
                </a:solidFill>
                <a:latin typeface="Arial Unicode MS"/>
                <a:ea typeface="Arial Unicode MS"/>
                <a:cs typeface="Arial Unicode MS"/>
              </a:rPr>
              <a:t>200 / 200 / 200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C3D755-B4DC-44A9-A9F4-CCA35B5F8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2197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9B1A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A9B1AE"/>
                </a:solidFill>
                <a:latin typeface="Arial Unicode MS"/>
                <a:ea typeface="Arial Unicode MS"/>
                <a:cs typeface="Arial Unicode MS"/>
              </a:rPr>
              <a:t>三次复现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481F74-985A-4248-BCCE-66361BB26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7FF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B7FF43"/>
                </a:solidFill>
                <a:latin typeface="Arial Unicode MS"/>
                <a:ea typeface="Arial Unicode MS"/>
                <a:cs typeface="Arial Unicode MS"/>
              </a:rPr>
              <a:t>定位结论：不是只说“游戏有错”，而是指出方案第 3 步先失真，随后写进代码。</a:t>
            </a:r>
          </a:p>
        </p:txBody>
      </p:sp>
    </p:spTree>
    <p:extLst>
      <p:ext uri="{BB962C8B-B14F-4D97-AF65-F5344CB8AC3E}">
        <p14:creationId xmlns:p14="http://schemas.microsoft.com/office/powerpoint/2010/main" val="1793800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43922F-C7E6-4D5D-8BF1-08A11D5F4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379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737972"/>
                </a:solidFill>
                <a:latin typeface="Arial Unicode MS"/>
                <a:ea typeface="Arial Unicode MS"/>
                <a:cs typeface="Arial Unicode MS"/>
              </a:rPr>
              <a:t>检查重点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B59028-356F-41EF-A4F7-A1DB1C737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CC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6ECCF9-E478-4991-941B-07DBA13C5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3345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rPr>
              <a:t>错误会出现在三个不同位置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01c8eb81e644a3"/>
          <a:srcRect xmlns:a="http://schemas.openxmlformats.org/drawingml/2006/main" l="0" t="5567" r="0" b="55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00875" y="1562100"/>
            <a:ext cx="4476750" cy="3714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29E608-790B-4763-A178-3D95019CE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rPr>
              <a:t>题意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12F6AA-07C2-478D-A3EA-F16EA04F7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9812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7379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737972"/>
                </a:solidFill>
                <a:latin typeface="Arial Unicode MS"/>
                <a:ea typeface="Arial Unicode MS"/>
                <a:cs typeface="Arial Unicode MS"/>
              </a:rPr>
              <a:t>胜负、计分、时序、存档有没有读错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5EF38C-17EF-4C16-8BFE-F3B314B04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62225"/>
            <a:ext cx="590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CC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8A8E18-D86A-4877-AFB1-0B1BA1BFE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67025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rPr>
              <a:t>方案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834BED-9D99-43C4-A07A-C9C423CD9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867025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7379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737972"/>
                </a:solidFill>
                <a:latin typeface="Arial Unicode MS"/>
                <a:ea typeface="Arial Unicode MS"/>
                <a:cs typeface="Arial Unicode MS"/>
              </a:rPr>
              <a:t>预期结果能不能由公开规则推出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E75F57-21C2-443C-AC0E-D28A14B87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590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C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5B5DB9-2DAB-424F-8F2E-3DC7E8CAB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rPr>
              <a:t>实现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4B25D7-581F-408B-A843-523FA7693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75285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7379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737972"/>
                </a:solidFill>
                <a:latin typeface="Arial Unicode MS"/>
                <a:ea typeface="Arial Unicode MS"/>
                <a:cs typeface="Arial Unicode MS"/>
              </a:rPr>
              <a:t>代码有没有兑现动作、状态变化和边界条件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2B7885-ED27-4DD0-8468-D57E13656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590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C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2F46EC-AE94-4BA7-A1F2-4065F1E36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38675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62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FF624A"/>
                </a:solidFill>
                <a:latin typeface="Arial Unicode MS"/>
                <a:ea typeface="Arial Unicode MS"/>
                <a:cs typeface="Arial Unicode MS"/>
              </a:rPr>
              <a:t>判据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8EC4E2-4246-40C4-B375-E88142FA6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638675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7379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737972"/>
                </a:solidFill>
                <a:latin typeface="Arial Unicode MS"/>
                <a:ea typeface="Arial Unicode MS"/>
                <a:cs typeface="Arial Unicode MS"/>
              </a:rPr>
              <a:t>检查本身有没有添加题面没有写的限制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053353-E5EC-483D-BFC0-BD0514F05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590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CC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2368E9-1D15-4A09-9B43-A3B54C559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8680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E0F"/>
          </a:solidFill>
          <a:ln xmlns:a="http://schemas.openxmlformats.org/drawingml/2006/main" w="0">
            <a:solidFill>
              <a:srgbClr val="0B0E0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D1128D-F405-40BB-8AF4-7B0D50E1A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10250"/>
            <a:ext cx="10429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DF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FFFDF6"/>
                </a:solidFill>
                <a:latin typeface="Arial Unicode MS"/>
                <a:ea typeface="Arial Unicode MS"/>
                <a:cs typeface="Arial Unicode MS"/>
              </a:rPr>
              <a:t>分别记录：浏览器第几次操作首错｜方案第几步先失真｜相关代码在哪次写入</a:t>
            </a:r>
          </a:p>
        </p:txBody>
      </p:sp>
    </p:spTree>
    <p:extLst>
      <p:ext uri="{BB962C8B-B14F-4D97-AF65-F5344CB8AC3E}">
        <p14:creationId xmlns:p14="http://schemas.microsoft.com/office/powerpoint/2010/main" val="2643606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12A361-57CD-44D4-B2A5-B18DFB06A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379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737972"/>
                </a:solidFill>
                <a:latin typeface="Arial Unicode MS"/>
                <a:ea typeface="Arial Unicode MS"/>
                <a:cs typeface="Arial Unicode MS"/>
              </a:rPr>
              <a:t>十五题结果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F21086-AAD5-439E-81C0-89272786C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CC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037BC4-21CC-424E-8B09-48812D19E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3345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rPr>
              <a:t>混元更常判“有问题”或“无法确定”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571500" y="1809750"/>
          <a:ext xmlns:a="http://schemas.openxmlformats.org/drawingml/2006/main" cx="72390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f5a87f443bd4bc4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BA860F-7F36-427F-BC09-DCA564BEB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95500"/>
            <a:ext cx="295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050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rPr>
              <a:t>4/11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E80302-29BB-4DB9-BC1D-AF755626E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813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379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737972"/>
                </a:solidFill>
                <a:latin typeface="Arial Unicode MS"/>
                <a:ea typeface="Arial Unicode MS"/>
                <a:cs typeface="Arial Unicode MS"/>
              </a:rPr>
              <a:t>最终游戏判正确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3E2F7D-1220-481B-B03F-0369D737D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29000"/>
            <a:ext cx="295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050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rPr>
              <a:t>6/12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7E8108-4C8C-4CE1-BCE9-A6CA4601A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148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379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737972"/>
                </a:solidFill>
                <a:latin typeface="Arial Unicode MS"/>
                <a:ea typeface="Arial Unicode MS"/>
                <a:cs typeface="Arial Unicode MS"/>
              </a:rPr>
              <a:t>公开方案判成立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46901E-C866-45C5-8644-CE6CD76EA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714875"/>
            <a:ext cx="2905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CC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A3F073-36E3-4297-9A6D-EB7A182EF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905375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rPr>
              <a:t>声明文件合规 8/15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97BDC2-B573-4987-9085-63450A60B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343525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7379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737972"/>
                </a:solidFill>
                <a:latin typeface="Arial Unicode MS"/>
                <a:ea typeface="Arial Unicode MS"/>
                <a:cs typeface="Arial Unicode MS"/>
              </a:rPr>
              <a:t>原始游玩路径终局通过 14/47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84A557-F315-4577-A58F-295393CCD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62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FF624A"/>
                </a:solidFill>
                <a:latin typeface="Arial Unicode MS"/>
                <a:ea typeface="Arial Unicode MS"/>
                <a:cs typeface="Arial Unicode MS"/>
              </a:rPr>
              <a:t>这些是混元意见与执行记录，不等于独立正确率。</a:t>
            </a:r>
          </a:p>
        </p:txBody>
      </p:sp>
    </p:spTree>
    <p:extLst>
      <p:ext uri="{BB962C8B-B14F-4D97-AF65-F5344CB8AC3E}">
        <p14:creationId xmlns:p14="http://schemas.microsoft.com/office/powerpoint/2010/main" val="11061725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117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BA9D6B-DB33-4BC3-8A22-767D77E74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7FF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B7FF43"/>
                </a:solidFill>
                <a:latin typeface="Arial Unicode MS"/>
                <a:ea typeface="Arial Unicode MS"/>
                <a:cs typeface="Arial Unicode MS"/>
              </a:rPr>
              <a:t>难度分层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F38A44-59C3-4F3D-9F3A-E95EE8D6C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A444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A41831-BB16-442A-950A-AA839EDA2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5250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DF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FFFDF6"/>
                </a:solidFill>
                <a:latin typeface="Arial Unicode MS"/>
                <a:ea typeface="Arial Unicode MS"/>
                <a:cs typeface="Arial Unicode MS"/>
              </a:rPr>
              <a:t>十五题还不足以判断难度拐点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19125" y="1857375"/>
          <a:ext xmlns:a="http://schemas.openxmlformats.org/drawingml/2006/main" cx="7667625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8544a1403eb4c7f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385557-2B29-4375-8AAD-FB72D1EFD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38350"/>
            <a:ext cx="228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B7FF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525" b="1">
                <a:solidFill>
                  <a:srgbClr val="B7FF43"/>
                </a:solidFill>
                <a:latin typeface="Arial Unicode MS"/>
                <a:ea typeface="Arial Unicode MS"/>
                <a:cs typeface="Arial Unicode MS"/>
              </a:rPr>
              <a:t>1/3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FA1809-7B4B-4ACE-8A85-CC01F5744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6670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8C0B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8C0BD"/>
                </a:solidFill>
                <a:latin typeface="Arial Unicode MS"/>
                <a:ea typeface="Arial Unicode MS"/>
                <a:cs typeface="Arial Unicode MS"/>
              </a:rPr>
              <a:t>基础方案判成立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DF3480-55E0-4B83-906E-27AD2C9B1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57550"/>
            <a:ext cx="228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B7FF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525" b="1">
                <a:solidFill>
                  <a:srgbClr val="B7FF43"/>
                </a:solidFill>
                <a:latin typeface="Arial Unicode MS"/>
                <a:ea typeface="Arial Unicode MS"/>
                <a:cs typeface="Arial Unicode MS"/>
              </a:rPr>
              <a:t>2/4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0A0DC0-0242-431B-B19C-4B8E86727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8862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8C0B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8C0BD"/>
                </a:solidFill>
                <a:latin typeface="Arial Unicode MS"/>
                <a:ea typeface="Arial Unicode MS"/>
                <a:cs typeface="Arial Unicode MS"/>
              </a:rPr>
              <a:t>中等方案判成立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0E5E62-95F6-4D3B-B24C-BC740F798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76750"/>
            <a:ext cx="228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B7FF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525" b="1">
                <a:solidFill>
                  <a:srgbClr val="B7FF43"/>
                </a:solidFill>
                <a:latin typeface="Arial Unicode MS"/>
                <a:ea typeface="Arial Unicode MS"/>
                <a:cs typeface="Arial Unicode MS"/>
              </a:rPr>
              <a:t>3/5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8E4287-F649-4A89-A253-D763EB93F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1054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8C0B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8C0BD"/>
                </a:solidFill>
                <a:latin typeface="Arial Unicode MS"/>
                <a:ea typeface="Arial Unicode MS"/>
                <a:cs typeface="Arial Unicode MS"/>
              </a:rPr>
              <a:t>高难方案判成立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C2C275-7D4C-45C5-BE3E-D3EC5EEB1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6267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4CBC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C4CBC8"/>
                </a:solidFill>
                <a:latin typeface="Arial Unicode MS"/>
                <a:ea typeface="Arial Unicode MS"/>
                <a:cs typeface="Arial Unicode MS"/>
              </a:rPr>
              <a:t>题量少，而且每档玩法和检查强度不同；这里只报告分层结果。</a:t>
            </a:r>
          </a:p>
        </p:txBody>
      </p:sp>
    </p:spTree>
    <p:extLst>
      <p:ext uri="{BB962C8B-B14F-4D97-AF65-F5344CB8AC3E}">
        <p14:creationId xmlns:p14="http://schemas.microsoft.com/office/powerpoint/2010/main" val="9487830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B258D2-57F3-430F-919F-469939EB1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379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737972"/>
                </a:solidFill>
                <a:latin typeface="Arial Unicode MS"/>
                <a:ea typeface="Arial Unicode MS"/>
                <a:cs typeface="Arial Unicode MS"/>
              </a:rPr>
              <a:t>错误类型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1C125A-895A-4940-A650-D568AE25E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CC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997C5E-E15D-4385-93F8-C9DA9635B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3345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rPr>
              <a:t>最多的是“实现没有兑现方案”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D0F4CE-A234-4623-8859-BA223530C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2857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350" b="1">
                <a:solidFill>
                  <a:srgbClr val="FF62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350" b="1">
                <a:solidFill>
                  <a:srgbClr val="FF624A"/>
                </a:solidFill>
                <a:latin typeface="Arial Unicode MS"/>
                <a:ea typeface="Arial Unicode MS"/>
                <a:cs typeface="Arial Unicode MS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5F74A8-625D-4B83-8AFC-097E2C65A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rPr>
              <a:t>条实现不符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E4627F-8764-45D0-9595-064716B0C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9550"/>
            <a:ext cx="1000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350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D61695-4C79-4897-BFB8-F54B0B6A0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6242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7379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737972"/>
                </a:solidFill>
                <a:latin typeface="Arial Unicode MS"/>
                <a:ea typeface="Arial Unicode MS"/>
                <a:cs typeface="Arial Unicode MS"/>
              </a:rPr>
              <a:t>错误假设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937D32-E9A4-4257-B6B1-935DFA1B9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29175"/>
            <a:ext cx="1000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350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3248AB-0CF8-4B54-B5C6-22768C55B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720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7379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737972"/>
                </a:solidFill>
                <a:latin typeface="Arial Unicode MS"/>
                <a:ea typeface="Arial Unicode MS"/>
                <a:cs typeface="Arial Unicode MS"/>
              </a:rPr>
              <a:t>题意误读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3762375" y="1809750"/>
          <a:ext xmlns:a="http://schemas.openxmlformats.org/drawingml/2006/main" cx="74295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5092761143c4c99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AA8D88-239D-4470-ACC7-E883825FB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591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CC3"/>
          </a:solidFill>
          <a:ln xmlns:a="http://schemas.openxmlformats.org/drawingml/2006/main" w="0">
            <a:solidFill>
              <a:srgbClr val="C9CCC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D63B19-5514-49F7-9ABB-4CC20402C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379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737972"/>
                </a:solidFill>
                <a:latin typeface="Arial Unicode MS"/>
                <a:ea typeface="Arial Unicode MS"/>
                <a:cs typeface="Arial Unicode MS"/>
              </a:rPr>
              <a:t>同一题可以有多条标记；这里统计的是混元复核标签，不是逐条独立证实的缺陷。</a:t>
            </a:r>
          </a:p>
        </p:txBody>
      </p:sp>
    </p:spTree>
    <p:extLst>
      <p:ext uri="{BB962C8B-B14F-4D97-AF65-F5344CB8AC3E}">
        <p14:creationId xmlns:p14="http://schemas.microsoft.com/office/powerpoint/2010/main" val="25134769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117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5E0AA5-51B6-4806-A12E-6D960F586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7FF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B7FF43"/>
                </a:solidFill>
                <a:latin typeface="Arial Unicode MS"/>
                <a:ea typeface="Arial Unicode MS"/>
                <a:cs typeface="Arial Unicode MS"/>
              </a:rPr>
              <a:t>可复现案例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4C3AB6-7163-488B-8A02-B06C1E142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A444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BD5B70-8ACD-4FC9-B63E-EBA2B135F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5250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DF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FFFDF6"/>
                </a:solidFill>
                <a:latin typeface="Arial Unicode MS"/>
                <a:ea typeface="Arial Unicode MS"/>
                <a:cs typeface="Arial Unicode MS"/>
              </a:rPr>
              <a:t>标准 100，方案和试玩都是 200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571500" y="1952625"/>
          <a:ext xmlns:a="http://schemas.openxmlformats.org/drawingml/2006/main" cx="733425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63a3cb976a441bd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6F8E1F-E473-45E4-AB07-66474B2A4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0383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62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750" b="1">
                <a:solidFill>
                  <a:srgbClr val="FF624A"/>
                </a:solidFill>
                <a:latin typeface="Arial Unicode MS"/>
                <a:ea typeface="Arial Unicode MS"/>
                <a:cs typeface="Arial Unicode MS"/>
              </a:rPr>
              <a:t>第 3 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8D55EC-2C82-4BCA-B0D7-139F4DF6A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6860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DF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FFFDF6"/>
                </a:solidFill>
                <a:latin typeface="Arial Unicode MS"/>
                <a:ea typeface="Arial Unicode MS"/>
                <a:cs typeface="Arial Unicode MS"/>
              </a:rPr>
              <a:t>方案第一次失真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7787EA-9538-4A7E-BC4D-ED2C53C2B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209925"/>
            <a:ext cx="2714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62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3921E6-7A00-4DE0-8D6A-CEE481E64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4766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7FF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B7FF43"/>
                </a:solidFill>
                <a:latin typeface="Arial Unicode MS"/>
                <a:ea typeface="Arial Unicode MS"/>
                <a:cs typeface="Arial Unicode MS"/>
              </a:rPr>
              <a:t>四次输入 × 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D8C10B-A1BD-4EC8-9340-EFE2714E2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933825"/>
            <a:ext cx="2762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C7CFC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C7CFCC"/>
                </a:solidFill>
                <a:latin typeface="Arial Unicode MS"/>
                <a:ea typeface="Arial Unicode MS"/>
                <a:cs typeface="Arial Unicode MS"/>
              </a:rPr>
              <a:t>公开标准可直接算出 100。</a:t>
            </a:r>
          </a:p>
          <a:p xmlns:a="http://schemas.openxmlformats.org/drawingml/2006/main">
            <a:pPr>
              <a:defRPr sz="1425" b="0">
                <a:solidFill>
                  <a:srgbClr val="C7CFC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C7CFCC"/>
                </a:solidFill>
                <a:latin typeface="Arial Unicode MS"/>
                <a:ea typeface="Arial Unicode MS"/>
                <a:cs typeface="Arial Unicode MS"/>
              </a:rPr>
              <a:t>生成代码又额外加 100，三次浏览器试玩都复现为 200。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FB633A-32CD-4381-8F2D-E92351E9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219700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DF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FFFDF6"/>
                </a:solidFill>
                <a:latin typeface="Arial Unicode MS"/>
                <a:ea typeface="Arial Unicode MS"/>
                <a:cs typeface="Arial Unicode MS"/>
              </a:rPr>
              <a:t>混元判断“过程有错”并定位到第 3 步。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F8E747-01A8-4024-8C09-AFF35E96A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81725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AB3B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AAB3B0"/>
                </a:solidFill>
                <a:latin typeface="Arial Unicode MS"/>
                <a:ea typeface="Arial Unicode MS"/>
                <a:cs typeface="Arial Unicode MS"/>
              </a:rPr>
              <a:t>这里只验证这一条公开计分主张，不声称整份方案都已验完。</a:t>
            </a:r>
          </a:p>
        </p:txBody>
      </p:sp>
    </p:spTree>
    <p:extLst>
      <p:ext uri="{BB962C8B-B14F-4D97-AF65-F5344CB8AC3E}">
        <p14:creationId xmlns:p14="http://schemas.microsoft.com/office/powerpoint/2010/main" val="1500452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B85F97-E418-4BB4-A39F-B56310929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379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737972"/>
                </a:solidFill>
                <a:latin typeface="Arial Unicode MS"/>
                <a:ea typeface="Arial Unicode MS"/>
                <a:cs typeface="Arial Unicode MS"/>
              </a:rPr>
              <a:t>评估器有效性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8144E3-9D56-42AA-9B99-1D1D5DB85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CC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F58561-7941-4FCC-9DB3-3EEB2D919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3345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rPr>
              <a:t>三份已知错步，只完整命中一份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CCADE7-824F-46EE-B3D6-48B0FF476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314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150" b="1">
                <a:solidFill>
                  <a:srgbClr val="FF62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150" b="1">
                <a:solidFill>
                  <a:srgbClr val="FF624A"/>
                </a:solidFill>
                <a:latin typeface="Arial Unicode MS"/>
                <a:ea typeface="Arial Unicode MS"/>
                <a:cs typeface="Arial Unicode MS"/>
              </a:rPr>
              <a:t>1/3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3598FC-FB1E-4F30-89C9-E6451CD6F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87655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rPr>
              <a:t>同时检出错误并定位到已核对步骤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96D977-A364-4A25-ADEA-1F6DF1F54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81175"/>
            <a:ext cx="1857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rPr>
              <a:t>钥匙开门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A34FBA-C6EE-49AB-B4BB-74C29358A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02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379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737972"/>
                </a:solidFill>
                <a:latin typeface="Arial Unicode MS"/>
                <a:ea typeface="Arial Unicode MS"/>
                <a:cs typeface="Arial Unicode MS"/>
              </a:rPr>
              <a:t>标准第 1 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574AE2-4167-4806-A36B-FDB3DDBC8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02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62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FF624A"/>
                </a:solidFill>
                <a:latin typeface="Arial Unicode MS"/>
                <a:ea typeface="Arial Unicode MS"/>
                <a:cs typeface="Arial Unicode MS"/>
              </a:rPr>
              <a:t>给对步骤，却判方案正确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8AF619-1066-4180-BD0C-B9C699F95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81250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CC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FAEF4F-DC56-4786-A510-223F9B294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57500"/>
            <a:ext cx="1857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rPr>
              <a:t>联机五子棋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AB371F-CDE5-43B8-ABA4-6BD2CD08A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765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379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737972"/>
                </a:solidFill>
                <a:latin typeface="Arial Unicode MS"/>
                <a:ea typeface="Arial Unicode MS"/>
                <a:cs typeface="Arial Unicode MS"/>
              </a:rPr>
              <a:t>标准第 4 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A68AD9-5EA1-469B-8C62-FEC6C1689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765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62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FF624A"/>
                </a:solidFill>
                <a:latin typeface="Arial Unicode MS"/>
                <a:ea typeface="Arial Unicode MS"/>
                <a:cs typeface="Arial Unicode MS"/>
              </a:rPr>
              <a:t>判有错，却没给出步骤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CDE884-CF8C-462B-BA65-75AD4A555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57575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C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AE3113-1C6A-4A5F-8F4F-21FAAEC1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933825"/>
            <a:ext cx="1857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rPr>
              <a:t>粒子乐队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1A531A-1F82-497B-84AA-4016E71E8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528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379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737972"/>
                </a:solidFill>
                <a:latin typeface="Arial Unicode MS"/>
                <a:ea typeface="Arial Unicode MS"/>
                <a:cs typeface="Arial Unicode MS"/>
              </a:rPr>
              <a:t>标准第 3 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A597DF-19F4-4B69-B038-6231BE833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9528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B8C1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5B8C14"/>
                </a:solidFill>
                <a:latin typeface="Arial Unicode MS"/>
                <a:ea typeface="Arial Unicode MS"/>
                <a:cs typeface="Arial Unicode MS"/>
              </a:rPr>
              <a:t>判有错，也给对步骤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8ADD01-23B9-4C99-BE84-E5636AE4F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533900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CC3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232399f3c74e03"/>
          <a:srcRect xmlns:a="http://schemas.openxmlformats.org/drawingml/2006/main" l="0" t="6566" r="0" b="65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3895725"/>
            <a:ext cx="3143250" cy="2047875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467503-B6BB-4230-9825-433112C50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0958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7379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737972"/>
                </a:solidFill>
                <a:latin typeface="Arial Unicode MS"/>
                <a:ea typeface="Arial Unicode MS"/>
                <a:cs typeface="Arial Unicode MS"/>
              </a:rPr>
              <a:t>另一个重要样本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6A233A-0141-4ED2-990A-E484AB11E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42925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0B0E0F"/>
                </a:solidFill>
                <a:latin typeface="Arial Unicode MS"/>
                <a:ea typeface="Arial Unicode MS"/>
                <a:cs typeface="Arial Unicode MS"/>
              </a:rPr>
              <a:t>二〇四八核心玩法可通关，但方案第三步仍然有错。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B9B4DE-E05A-4A95-8DE5-848D6CB54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379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737972"/>
                </a:solidFill>
                <a:latin typeface="Arial Unicode MS"/>
                <a:ea typeface="Arial Unicode MS"/>
                <a:cs typeface="Arial Unicode MS"/>
              </a:rPr>
              <a:t>补充复核：真问题 1/1，误报 0/1。样本太少，不能估计总体误报率。</a:t>
            </a:r>
          </a:p>
        </p:txBody>
      </p:sp>
    </p:spTree>
    <p:extLst>
      <p:ext uri="{BB962C8B-B14F-4D97-AF65-F5344CB8AC3E}">
        <p14:creationId xmlns:p14="http://schemas.microsoft.com/office/powerpoint/2010/main" val="19015777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2026-09-18T09:31:56.5710000Z</dcterms:created>
  <dcterms:modified xsi:type="dcterms:W3CDTF">2026-09-18T09:31:56.5710000Z</dcterms:modified>
</coreProperties>
</file>