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ceea19d5094ba4" /><Relationship Type="http://schemas.openxmlformats.org/officeDocument/2006/relationships/extended-properties" Target="/docProps/app.xml" Id="R52bd390a130542a5" /><Relationship Type="http://schemas.openxmlformats.org/officeDocument/2006/relationships/officeDocument" Target="/ppt/presentation.xml" Id="R14dbaeb047a34a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f03cf910194b79"/>
  </p:sldMasterIdLst>
  <p:notesMasterIdLst>
    <p:notesMasterId xmlns:r="http://schemas.openxmlformats.org/officeDocument/2006/relationships" r:id="Rdd5fd87768df4c83"/>
  </p:notesMasterIdLst>
  <p:sldIdLst>
    <p:sldId xmlns:r="http://schemas.openxmlformats.org/officeDocument/2006/relationships" id="256" r:id="R20f1be1d51bb44fa"/>
    <p:sldId xmlns:r="http://schemas.openxmlformats.org/officeDocument/2006/relationships" id="257" r:id="R6f4a4920150e4f7c"/>
    <p:sldId xmlns:r="http://schemas.openxmlformats.org/officeDocument/2006/relationships" id="258" r:id="R81cbc6e9346b4e32"/>
    <p:sldId xmlns:r="http://schemas.openxmlformats.org/officeDocument/2006/relationships" id="259" r:id="Ra08bc370e56342c0"/>
    <p:sldId xmlns:r="http://schemas.openxmlformats.org/officeDocument/2006/relationships" id="260" r:id="R15dcf9f49782442e"/>
    <p:sldId xmlns:r="http://schemas.openxmlformats.org/officeDocument/2006/relationships" id="261" r:id="R68575cbbe0e34b48"/>
    <p:sldId xmlns:r="http://schemas.openxmlformats.org/officeDocument/2006/relationships" id="262" r:id="R9cf0aacf0e6b4b3b"/>
    <p:sldId xmlns:r="http://schemas.openxmlformats.org/officeDocument/2006/relationships" id="263" r:id="R42fd17847e914a0e"/>
    <p:sldId xmlns:r="http://schemas.openxmlformats.org/officeDocument/2006/relationships" id="264" r:id="R10b1e5d32f4c4833"/>
    <p:sldId xmlns:r="http://schemas.openxmlformats.org/officeDocument/2006/relationships" id="265" r:id="R0b4a5ca59e3a42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940136c48f496d" /><Relationship Type="http://schemas.openxmlformats.org/officeDocument/2006/relationships/slideMaster" Target="/ppt/slideMasters/slideMaster1.xml" Id="R12f03cf910194b79" /><Relationship Type="http://schemas.openxmlformats.org/officeDocument/2006/relationships/notesMaster" Target="/ppt/notesMasters/notesMaster1.xml" Id="Rdd5fd87768df4c83" /><Relationship Type="http://schemas.openxmlformats.org/officeDocument/2006/relationships/presProps" Target="/ppt/presProps.xml" Id="R02ebb3266bde4b6c" /><Relationship Type="http://schemas.openxmlformats.org/officeDocument/2006/relationships/tableStyles" Target="/ppt/tableStyles.xml" Id="R3e2e518e4e8d4b0a" /><Relationship Type="http://schemas.openxmlformats.org/officeDocument/2006/relationships/slide" Target="/ppt/slides/slide1.xml" Id="R20f1be1d51bb44fa" /><Relationship Type="http://schemas.openxmlformats.org/officeDocument/2006/relationships/slide" Target="/ppt/slides/slide2.xml" Id="R6f4a4920150e4f7c" /><Relationship Type="http://schemas.openxmlformats.org/officeDocument/2006/relationships/slide" Target="/ppt/slides/slide3.xml" Id="R81cbc6e9346b4e32" /><Relationship Type="http://schemas.openxmlformats.org/officeDocument/2006/relationships/slide" Target="/ppt/slides/slide4.xml" Id="Ra08bc370e56342c0" /><Relationship Type="http://schemas.openxmlformats.org/officeDocument/2006/relationships/slide" Target="/ppt/slides/slide5.xml" Id="R15dcf9f49782442e" /><Relationship Type="http://schemas.openxmlformats.org/officeDocument/2006/relationships/slide" Target="/ppt/slides/slide6.xml" Id="R68575cbbe0e34b48" /><Relationship Type="http://schemas.openxmlformats.org/officeDocument/2006/relationships/slide" Target="/ppt/slides/slide7.xml" Id="R9cf0aacf0e6b4b3b" /><Relationship Type="http://schemas.openxmlformats.org/officeDocument/2006/relationships/slide" Target="/ppt/slides/slide8.xml" Id="R42fd17847e914a0e" /><Relationship Type="http://schemas.openxmlformats.org/officeDocument/2006/relationships/slide" Target="/ppt/slides/slide9.xml" Id="R10b1e5d32f4c4833" /><Relationship Type="http://schemas.openxmlformats.org/officeDocument/2006/relationships/slide" Target="/ppt/slides/slide10.xml" Id="R0b4a5ca59e3a42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9c8cc3856a48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3ac55a45434581" /><Relationship Type="http://schemas.openxmlformats.org/officeDocument/2006/relationships/notesMaster" Target="/ppt/notesMasters/notesMaster1.xml" Id="R49e78f076a0643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e61c5c291b4de6" /><Relationship Type="http://schemas.openxmlformats.org/officeDocument/2006/relationships/notesMaster" Target="/ppt/notesMasters/notesMaster1.xml" Id="R861e9b294b3641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18140c8a25407e" /><Relationship Type="http://schemas.openxmlformats.org/officeDocument/2006/relationships/notesMaster" Target="/ppt/notesMasters/notesMaster1.xml" Id="R1ed4918e85f144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c76d1a4faa42b3" /><Relationship Type="http://schemas.openxmlformats.org/officeDocument/2006/relationships/notesMaster" Target="/ppt/notesMasters/notesMaster1.xml" Id="R22ceb8a9efc642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2a449960774345" /><Relationship Type="http://schemas.openxmlformats.org/officeDocument/2006/relationships/notesMaster" Target="/ppt/notesMasters/notesMaster1.xml" Id="Rf620f486a91145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04c463452a474c" /><Relationship Type="http://schemas.openxmlformats.org/officeDocument/2006/relationships/notesMaster" Target="/ppt/notesMasters/notesMaster1.xml" Id="R5a7abb3eb2254f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82246e0b2d4b5d" /><Relationship Type="http://schemas.openxmlformats.org/officeDocument/2006/relationships/notesMaster" Target="/ppt/notesMasters/notesMaster1.xml" Id="R6e4c5be5df6c43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cca972dc044779" /><Relationship Type="http://schemas.openxmlformats.org/officeDocument/2006/relationships/notesMaster" Target="/ppt/notesMasters/notesMaster1.xml" Id="Rf3b10bc885bd47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33048a085c4c49" /><Relationship Type="http://schemas.openxmlformats.org/officeDocument/2006/relationships/notesMaster" Target="/ppt/notesMasters/notesMaster1.xml" Id="R548404eb46c941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8fdf39393d4936" /><Relationship Type="http://schemas.openxmlformats.org/officeDocument/2006/relationships/notesMaster" Target="/ppt/notesMasters/notesMaster1.xml" Id="Rc80fd82e36fd48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正式范围：results/process-15-v1/scope.json；15 题全部完成见 results/process-15-v1/FINAL.md。历史 96 题不并入本报告。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来源：results/process-15-v1/final-summary.json 的 scope。题集来源与分层依据见 results/process-15-v1/FINAL.md。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过程定义与证据追溯：docs/process-evaluation.md、reports/analysis-report.md。公开编号方案先于代码；工具日志需与最终文件一致。观察桥只收集证据，玩家操作来自真实浏览器。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粒子乐队：results/process-15-v1/particle-orchestra/score-plan-claim.json；results/process-15-v1/PROCESS-VALIDITY.md。公开规则每次 +25；方案和实现 +100 额外终局分；三次 Chromium 终分 200。这里只核对选定计分主张，不把整份方案当已穷尽验证。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种位置不一一对应：docs/process-evaluation.md。浏览器首错是首个可观察偏离，方案首错是公开主张首个有独立反例的步骤，代码写入只作来源追溯，不能证明内部推理首错。题面歧义或判据风险不记作确定游戏缺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所有分母和口径：results/process-15-v1/final-summary.json。原固定路径含已核实的输入、私有断言和 observe 字段问题；声明文件合规也不保证完整运行接口合规。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来源：results/process-15-v1/final-summary.json 的 difficulty_rows 与 difficulty_boundary。各难度分母和未知项未合并。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来源：results/process-15-v1/final-summary.json 的 supported_model_finding_types；分类口径与限制见 results/process-15-v1/FINAL.md。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来源：results/process-15-v1/particle-orchestra/score-plan-claim.json。三次浏览器终局均为 200；标准 100 仅针对选出的公开计分断言，不代表整份方案穷尽标准。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三份公开方案子断言标准与复核结果：results/process-15-v1/PROCESS-VALIDITY.md。2048 补充混元提示不同，不能与原始全题复核合并；这里只描述已核对的一个正确核心游戏、错误过程单例。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ba58714a744c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49edfd5bb746b1" /><Relationship Type="http://schemas.openxmlformats.org/officeDocument/2006/relationships/slideLayout" Target="/ppt/slideLayouts/slideLayout1.xml" Id="Recbaa3db0f9d49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baa3db0f9d49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efaea52284565" /><Relationship Type="http://schemas.openxmlformats.org/officeDocument/2006/relationships/image" Target="/ppt/media/image.png" Id="R89c4ec38328c4919" /><Relationship Type="http://schemas.openxmlformats.org/officeDocument/2006/relationships/notesSlide" Target="/ppt/notesSlides/notesSlide1.xml" Id="R71470d1ace1847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7888bff254b01" /><Relationship Type="http://schemas.openxmlformats.org/officeDocument/2006/relationships/chart" Target="/ppt/slides/charts/chart1.xml" Id="R94522a8e2c1b4c5c" /><Relationship Type="http://schemas.openxmlformats.org/officeDocument/2006/relationships/image" Target="/ppt/media/image2.png" Id="R30abbb819eac420d" /><Relationship Type="http://schemas.openxmlformats.org/officeDocument/2006/relationships/image" Target="/ppt/media/image3.png" Id="R84a5f74b81f54e6e" /><Relationship Type="http://schemas.openxmlformats.org/officeDocument/2006/relationships/image" Target="/ppt/media/image4.png" Id="R0bdd347e7df047fc" /><Relationship Type="http://schemas.openxmlformats.org/officeDocument/2006/relationships/notesSlide" Target="/ppt/notesSlides/notesSlide2.xml" Id="Rf6b08b85a6be42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583b57e3e40e7" /><Relationship Type="http://schemas.openxmlformats.org/officeDocument/2006/relationships/notesSlide" Target="/ppt/notesSlides/notesSlide3.xml" Id="Rae05cfc20a6a4a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74f6d34ed41e8" /><Relationship Type="http://schemas.openxmlformats.org/officeDocument/2006/relationships/notesSlide" Target="/ppt/notesSlides/notesSlide4.xml" Id="R69289b3ea7024f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6a8b3a9f54019" /><Relationship Type="http://schemas.openxmlformats.org/officeDocument/2006/relationships/image" Target="/ppt/media/image5.png" Id="R3a37a684c3a546aa" /><Relationship Type="http://schemas.openxmlformats.org/officeDocument/2006/relationships/notesSlide" Target="/ppt/notesSlides/notesSlide5.xml" Id="Rc1b309ff584d43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5fc1bd9bf4f61" /><Relationship Type="http://schemas.openxmlformats.org/officeDocument/2006/relationships/chart" Target="/ppt/slides/charts/chart2.xml" Id="R94159a95bf9b4757" /><Relationship Type="http://schemas.openxmlformats.org/officeDocument/2006/relationships/notesSlide" Target="/ppt/notesSlides/notesSlide6.xml" Id="R5a88f7b85d8148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23351f98c498f" /><Relationship Type="http://schemas.openxmlformats.org/officeDocument/2006/relationships/chart" Target="/ppt/slides/charts/chart3.xml" Id="R68adc57ff8dd45cf" /><Relationship Type="http://schemas.openxmlformats.org/officeDocument/2006/relationships/notesSlide" Target="/ppt/notesSlides/notesSlide7.xml" Id="R738d16e5d8d942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7077de8604d72" /><Relationship Type="http://schemas.openxmlformats.org/officeDocument/2006/relationships/chart" Target="/ppt/slides/charts/chart4.xml" Id="R21c8b45eb9cd4c30" /><Relationship Type="http://schemas.openxmlformats.org/officeDocument/2006/relationships/notesSlide" Target="/ppt/notesSlides/notesSlide8.xml" Id="R6adba12b28f34a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9dd06ab294610" /><Relationship Type="http://schemas.openxmlformats.org/officeDocument/2006/relationships/chart" Target="/ppt/slides/charts/chart5.xml" Id="R7d19b11eaa854fda" /><Relationship Type="http://schemas.openxmlformats.org/officeDocument/2006/relationships/notesSlide" Target="/ppt/notesSlides/notesSlide9.xml" Id="Refcfa6707c6e41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44f1b26804b03" /><Relationship Type="http://schemas.openxmlformats.org/officeDocument/2006/relationships/image" Target="/ppt/media/image6.png" Id="R8b754d743223493c" /><Relationship Type="http://schemas.openxmlformats.org/officeDocument/2006/relationships/notesSlide" Target="/ppt/notesSlides/notesSlide10.xml" Id="R64dd89b9a67b42c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题数</c:v>
          </c:tx>
          <c:spPr>
            <a:solidFill xmlns:a="http://schemas.openxmlformats.org/drawingml/2006/main">
              <a:srgbClr val="0B0E0F"/>
            </a:solidFill>
          </c:spPr>
          <c:cat>
            <c:strRef>
              <c:f>'Chart Data'!$A$2:$A$5</c:f>
              <c:strCache>
                <c:ptCount val="4"/>
                <c:pt idx="0">
                  <c:v>动作</c:v>
                </c:pt>
                <c:pt idx="1">
                  <c:v>益智</c:v>
                </c:pt>
                <c:pt idx="2">
                  <c:v>创意</c:v>
                </c:pt>
                <c:pt idx="3">
                  <c:v>模拟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0B0E0F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7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4F2EA"/>
        </a:solidFill>
      </c:spPr>
    </c:plotArea>
    <c:plotVisOnly val="1"/>
  </c:chart>
  <c:spPr>
    <a:solidFill xmlns:a="http://schemas.openxmlformats.org/drawingml/2006/main">
      <a:srgbClr val="F4F2EA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判正确</c:v>
          </c:tx>
          <c:spPr>
            <a:solidFill xmlns:a="http://schemas.openxmlformats.org/drawingml/2006/main">
              <a:srgbClr val="5B8C14"/>
            </a:solidFill>
          </c:spPr>
          <c:cat>
            <c:strRef>
              <c:f>'Chart Data'!$A$2:$A$3</c:f>
              <c:strCache>
                <c:ptCount val="2"/>
                <c:pt idx="0">
                  <c:v>最终游戏</c:v>
                </c:pt>
                <c:pt idx="1">
                  <c:v>公开方案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</c:v>
                </c:pt>
                <c:pt idx="1">
                  <c:v>6</c:v>
                </c:pt>
              </c:numCache>
            </c:numRef>
          </c:val>
        </c:ser>
        <c:ser>
          <c:idx val="1"/>
          <c:order val="1"/>
          <c:tx>
            <c:v>判错误</c:v>
          </c:tx>
          <c:spPr>
            <a:solidFill xmlns:a="http://schemas.openxmlformats.org/drawingml/2006/main">
              <a:srgbClr val="FF624A"/>
            </a:solidFill>
          </c:spPr>
          <c:cat>
            <c:strRef>
              <c:f>'Chart Data'!$C$2:$C$3</c:f>
              <c:strCache>
                <c:ptCount val="2"/>
                <c:pt idx="0">
                  <c:v>最终游戏</c:v>
                </c:pt>
                <c:pt idx="1">
                  <c:v>公开方案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7</c:v>
                </c:pt>
                <c:pt idx="1">
                  <c:v>6</c:v>
                </c:pt>
              </c:numCache>
            </c:numRef>
          </c:val>
        </c:ser>
        <c:ser>
          <c:idx val="2"/>
          <c:order val="2"/>
          <c:tx>
            <c:v>未判定</c:v>
          </c:tx>
          <c:spPr>
            <a:solidFill xmlns:a="http://schemas.openxmlformats.org/drawingml/2006/main">
              <a:srgbClr val="9DA39D"/>
            </a:solidFill>
          </c:spPr>
          <c:cat>
            <c:strRef>
              <c:f>'Chart Data'!$E$2:$E$3</c:f>
              <c:strCache>
                <c:ptCount val="2"/>
                <c:pt idx="0">
                  <c:v>最终游戏</c:v>
                </c:pt>
                <c:pt idx="1">
                  <c:v>公开方案</c:v>
                </c:pt>
              </c:strCache>
            </c:strRef>
          </c:cat>
          <c:val>
            <c:numRef>
              <c:f>'Chart Data'!$F$2:$F$3</c:f>
              <c:numCache>
                <c:formatCode>General</c:formatCode>
                <c:ptCount val="2"/>
                <c:pt idx="0">
                  <c:v>4</c:v>
                </c:pt>
                <c:pt idx="1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FFFDF6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4F2E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0B0E0F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4F2EA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最终判正确</c:v>
          </c:tx>
          <c:spPr>
            <a:solidFill xmlns:a="http://schemas.openxmlformats.org/drawingml/2006/main">
              <a:srgbClr val="B7FF43"/>
            </a:solidFill>
          </c:spPr>
          <c:cat>
            <c:strRef>
              <c:f>'Chart Data'!$A$2:$A$4</c:f>
              <c:strCache>
                <c:ptCount val="3"/>
                <c:pt idx="0">
                  <c:v>基础 4 题</c:v>
                </c:pt>
                <c:pt idx="1">
                  <c:v>中等 6 题</c:v>
                </c:pt>
                <c:pt idx="2">
                  <c:v>高难 5 题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</c:v>
                </c:pt>
                <c:pt idx="1">
                  <c:v>0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v>最终判错误</c:v>
          </c:tx>
          <c:spPr>
            <a:solidFill xmlns:a="http://schemas.openxmlformats.org/drawingml/2006/main">
              <a:srgbClr val="FF624A"/>
            </a:solidFill>
          </c:spPr>
          <c:cat>
            <c:strRef>
              <c:f>'Chart Data'!$C$2:$C$4</c:f>
              <c:strCache>
                <c:ptCount val="3"/>
                <c:pt idx="0">
                  <c:v>基础 4 题</c:v>
                </c:pt>
                <c:pt idx="1">
                  <c:v>中等 6 题</c:v>
                </c:pt>
                <c:pt idx="2">
                  <c:v>高难 5 题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ser>
          <c:idx val="2"/>
          <c:order val="2"/>
          <c:tx>
            <c:v>未判定</c:v>
          </c:tx>
          <c:spPr>
            <a:solidFill xmlns:a="http://schemas.openxmlformats.org/drawingml/2006/main">
              <a:srgbClr val="6B7474"/>
            </a:solidFill>
          </c:spPr>
          <c:cat>
            <c:strRef>
              <c:f>'Chart Data'!$E$2:$E$4</c:f>
              <c:strCache>
                <c:ptCount val="3"/>
                <c:pt idx="0">
                  <c:v>基础 4 题</c:v>
                </c:pt>
                <c:pt idx="1">
                  <c:v>中等 6 题</c:v>
                </c:pt>
                <c:pt idx="2">
                  <c:v>高难 5 题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FFFDF6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111719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FFFDF6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111719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标记条数</c:v>
          </c:tx>
          <c:spPr>
            <a:solidFill xmlns:a="http://schemas.openxmlformats.org/drawingml/2006/main">
              <a:srgbClr val="FF624A"/>
            </a:solidFill>
          </c:spPr>
          <c:cat>
            <c:strRef>
              <c:f>'Chart Data'!$A$2:$A$4</c:f>
              <c:strCache>
                <c:ptCount val="3"/>
                <c:pt idx="0">
                  <c:v>实现不符</c:v>
                </c:pt>
                <c:pt idx="1">
                  <c:v>错误假设</c:v>
                </c:pt>
                <c:pt idx="2">
                  <c:v>题意误读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0B0E0F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3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4F2EA"/>
        </a:solidFill>
      </c:spPr>
    </c:plotArea>
    <c:plotVisOnly val="1"/>
  </c:chart>
  <c:spPr>
    <a:solidFill xmlns:a="http://schemas.openxmlformats.org/drawingml/2006/main">
      <a:srgbClr val="F4F2EA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终局分数</c:v>
          </c:tx>
          <c:spPr>
            <a:solidFill xmlns:a="http://schemas.openxmlformats.org/drawingml/2006/main">
              <a:srgbClr val="FF624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7FF43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公开标准</c:v>
                </c:pt>
                <c:pt idx="1">
                  <c:v>方案预计</c:v>
                </c:pt>
                <c:pt idx="2">
                  <c:v>试玩一</c:v>
                </c:pt>
                <c:pt idx="3">
                  <c:v>试玩二</c:v>
                </c:pt>
                <c:pt idx="4">
                  <c:v>试玩三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100</c:v>
                </c:pt>
                <c:pt idx="1">
                  <c:v>200</c:v>
                </c:pt>
                <c:pt idx="2">
                  <c:v>200</c:v>
                </c:pt>
                <c:pt idx="3">
                  <c:v>200</c:v>
                </c:pt>
                <c:pt idx="4">
                  <c:v>200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FFFDF6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220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111719"/>
        </a:solidFill>
      </c:spPr>
    </c:plotArea>
    <c:plotVisOnly val="1"/>
  </c:chart>
  <c:spPr>
    <a:solidFill xmlns:a="http://schemas.openxmlformats.org/drawingml/2006/main">
      <a:srgbClr val="111719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4ec38328c4919"/>
          <a:srcRect xmlns:a="http://schemas.openxmlformats.org/drawingml/2006/main" l="20750" t="0" r="20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A3496-F472-4C66-99A1-347209F4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19"/>
          </a:solidFill>
          <a:ln xmlns:a="http://schemas.openxmlformats.org/drawingml/2006/main" w="0">
            <a:solidFill>
              <a:srgbClr val="11171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6F4C8-CE86-45CB-BCD2-FEFBC463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43550"/>
            <a:ext cx="4953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19"/>
          </a:solidFill>
          <a:ln xmlns:a="http://schemas.openxmlformats.org/drawingml/2006/main" w="0">
            <a:solidFill>
              <a:srgbClr val="11171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C61B4-B9FC-466D-9916-C0AC4CBC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43"/>
          </a:solidFill>
          <a:ln xmlns:a="http://schemas.openxmlformats.org/drawingml/2006/main" w="0">
            <a:solidFill>
              <a:srgbClr val="B7FF4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FEE3B-4AF5-42B4-869A-716CB6C3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混元游戏生成实验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E0B81-6E26-4D54-B0E5-43D763BE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6191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不只看</a:t>
            </a:r>
          </a:p>
          <a:p xmlns:a="http://schemas.openxmlformats.org/drawingml/2006/main">
            <a:pPr>
              <a:defRPr sz="42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游戏能不能赢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56145-90D3-4E2F-B225-D3BBFAE7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242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还要找到玩法从哪一步开始写错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2E510-2CE8-41C5-81F2-DE9F9E69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52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3FA9A-369C-48DD-8F93-86818EE4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15 道固定游戏题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1C8EE-3E65-4350-800E-5DB4F894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DD2C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DD2CF"/>
                </a:solidFill>
                <a:latin typeface="Arial Unicode MS"/>
                <a:ea typeface="Arial Unicode MS"/>
                <a:cs typeface="Arial Unicode MS"/>
              </a:rPr>
              <a:t>混元生成与复核 · 浏览器真实操作 · 方案和代码可追溯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1B1C7-70F6-4CBE-A8BD-72926551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9B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919B98"/>
                </a:solidFill>
                <a:latin typeface="Arial Unicode MS"/>
                <a:ea typeface="Arial Unicode MS"/>
                <a:cs typeface="Arial Unicode MS"/>
              </a:rPr>
              <a:t>可验证场景：过程评估与错误定位</a:t>
            </a:r>
          </a:p>
        </p:txBody>
      </p:sp>
    </p:spTree>
    <p:extLst>
      <p:ext uri="{BB962C8B-B14F-4D97-AF65-F5344CB8AC3E}">
        <p14:creationId xmlns:p14="http://schemas.microsoft.com/office/powerpoint/2010/main" val="6962761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C69F0-FCD4-44E4-85D5-E96DA0F6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实验范围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DF6C0-739D-48B4-A1D9-9144786E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6AEA5-EDC2-428D-A678-434DB3D2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十五题，覆盖四类玩法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A7E2A-5326-4C1D-A457-8538C2B5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40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D827D-88C9-4996-8D77-A9C10FEC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道固定题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6A97F-3620-40AF-B114-4750D491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基础 4 题</a:t>
            </a:r>
          </a:p>
          <a:p xmlns:a="http://schemas.openxmlformats.org/drawingml/2006/main">
            <a:pPr>
              <a:defRPr sz="180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中等 6 题</a:t>
            </a:r>
          </a:p>
          <a:p xmlns:a="http://schemas.openxmlformats.org/drawingml/2006/main">
            <a:pPr>
              <a:defRPr sz="180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高难 5 题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3333750" y="1762125"/>
          <a:ext xmlns:a="http://schemas.openxmlformats.org/drawingml/2006/main" cx="7810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522a8e2c1b4c5c"/>
          </a:graphicData>
        </a:graphic>
      </p:graphicFrame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bbb819eac420d"/>
          <a:srcRect xmlns:a="http://schemas.openxmlformats.org/drawingml/2006/main" l="0" t="19136" r="0" b="19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5048250"/>
            <a:ext cx="2400300" cy="12001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5f74b81f54e6e"/>
          <a:srcRect xmlns:a="http://schemas.openxmlformats.org/drawingml/2006/main" l="0" t="16667" r="0" b="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5048250"/>
            <a:ext cx="2400300" cy="12001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CF297-9992-46AE-A0AF-109EE20B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953125"/>
            <a:ext cx="2400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E"/>
          </a:solidFill>
          <a:ln xmlns:a="http://schemas.openxmlformats.org/drawingml/2006/main" w="0">
            <a:solidFill>
              <a:srgbClr val="2020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E3A69-90AE-4F41-A200-65552AB4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000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钥匙、门与出口地图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d347e7df047fc"/>
          <a:srcRect xmlns:a="http://schemas.openxmlformats.org/drawingml/2006/main" l="0" t="16667" r="0" b="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9150" y="5048250"/>
            <a:ext cx="2400300" cy="12001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BB6F8C-38A7-455B-8F76-6CE4A6AB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不含摄像头、视频和语音任务；按冻结清单顺序选取，不做代表性抽样。</a:t>
            </a:r>
          </a:p>
        </p:txBody>
      </p:sp>
    </p:spTree>
    <p:extLst>
      <p:ext uri="{BB962C8B-B14F-4D97-AF65-F5344CB8AC3E}">
        <p14:creationId xmlns:p14="http://schemas.microsoft.com/office/powerpoint/2010/main" val="2673994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DD478-36FD-4BD4-A1A1-0C397957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评估对象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1F931-9C3F-478F-80B5-EC04E113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BCC3E-6B4E-4198-96E7-36516F0E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审计留下来的生成过程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2CB90-D04E-4DD9-A280-3A4EF180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不是猜模型脑子里想了什么，而是检查它实际留下的方案、文件和试玩结果。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C0B1D-386F-49F8-A0DA-46C298FA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8D34B-4E48-4970-8913-69897C9C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669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题目和标准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4179D-682C-4C19-9ED4-E22578D9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76475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公开玩法要求给混元，私有检查留到生成后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6D04D-4CAA-4F30-B23B-6474BACC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819400"/>
            <a:ext cx="9458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BC85F-AA86-4D37-89D0-6A71A7CE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8F691-D78A-444B-BD8F-9A838A81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289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编号方案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ACBD1-4DEF-41D0-A14E-992C90D8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每一步写明要做什么、怎样判断做对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B3AE3-A6B5-4A54-ACA2-96E483ED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81425"/>
            <a:ext cx="9458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95B85-AB56-4513-AF2C-ACB501EF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0290F-0BBC-4956-98BD-F67DCDE9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91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代码记录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F2A0F-C0C4-434C-AB5B-4E2C58C4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00525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保存文件写入、修改顺序和最终哈希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723F3-904E-4ECD-97F3-C1C9F45F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43450"/>
            <a:ext cx="9458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B772F-6723-4DDF-8603-FECF2FD5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B8C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5B8C14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4A3407-BABF-4D6B-BBEA-B8282AD5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530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试玩复核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78CEE-191B-4157-A1EA-0042796A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6255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真实浏览器输入找反例，再由混元检查方案和代码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B0109-BDF3-4865-B8B5-F10B14F9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705475"/>
            <a:ext cx="9458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0882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69FA4D-7489-44EF-947E-D4A40474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一条主张怎样受检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78439-0702-4D22-B82E-D6D06B06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4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5E650-FBB2-4809-A63D-2AC57EF4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粒子乐队：计分从方案第三步开始错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88796-A5A0-46DE-9302-A67B6C2E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CD3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CCD3D0"/>
                </a:solidFill>
                <a:latin typeface="Arial Unicode MS"/>
                <a:ea typeface="Arial Unicode MS"/>
                <a:cs typeface="Arial Unicode MS"/>
              </a:rPr>
              <a:t>四次正确输入，每次 +25。公开规则可直接算出终分 100。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29B30-53C2-4ABE-A140-BD42BFA8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23950"/>
            <a:ext cx="31432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0C"/>
          </a:solidFill>
          <a:ln xmlns:a="http://schemas.openxmlformats.org/drawingml/2006/main" w="9525">
            <a:solidFill>
              <a:srgbClr val="4149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37977-BBDA-4B27-965E-B78CF543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906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rPr>
              <a:t>浏览器终局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F7415-A805-48EA-8985-325724F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574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12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200 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86E2B-A532-4137-9A69-829A5348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24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三次结果一致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48C29-DFE1-435F-9CB8-8D91E439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公开规则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068F4-DC88-4658-9AB0-7AD5CB93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6606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BC9F9-7F66-49B8-8796-DFE71BFB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4 × 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2A76B-AEEE-4973-8D38-263BB0A5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rPr>
              <a:t>标准 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EB500-C5DA-4EF8-9F74-21205EE0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290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rPr>
              <a:t>方案第 3 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A7006-39DB-4932-9D56-28DAA904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10075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2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32101-526A-46C7-990B-82F63B07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29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预计 200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60EACD-3F2A-4E5D-8063-CF1D968F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1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rPr>
              <a:t>第一次写错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E50E17-CDC6-4BC7-A31D-39836F5B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290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代码实现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E217E-F5E5-42E5-900C-1E899080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0075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660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2F8266-1459-4FE1-8A61-5217901D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29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又加 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33136A-1D7D-4EFF-BA37-6606146F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1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rPr>
              <a:t>沿用错误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CA652B-E648-4BDA-ADB6-BA6C8366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290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浏览器试玩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28CF3D-E3DB-4361-83C3-A73B6556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10075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6606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D9AEC2-6404-4DF1-9316-A08BACA7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29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200 / 200 / 200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F9339A-F9C5-403D-B02B-752D1F77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1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rPr>
              <a:t>三次复现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7D3309-3066-4FA2-8A33-4CB485CE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定位结论：不是只说“游戏有错”，而是指出方案第 3 步先失真，随后写进代码。</a:t>
            </a:r>
          </a:p>
        </p:txBody>
      </p:sp>
    </p:spTree>
    <p:extLst>
      <p:ext uri="{BB962C8B-B14F-4D97-AF65-F5344CB8AC3E}">
        <p14:creationId xmlns:p14="http://schemas.microsoft.com/office/powerpoint/2010/main" val="77251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7452D-10F1-473A-924C-B46E707F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检查重点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37D09-9DA4-4149-9657-4CB8A082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A3178-2D8B-4935-8160-260634CF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错误会出现在三个不同位置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7a684c3a546aa"/>
          <a:srcRect xmlns:a="http://schemas.openxmlformats.org/drawingml/2006/main" l="0" t="5567" r="0" b="55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1562100"/>
            <a:ext cx="4476750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05342-639C-4870-80D6-1F7E98D0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6210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0E"/>
          </a:solidFill>
          <a:ln xmlns:a="http://schemas.openxmlformats.org/drawingml/2006/main" w="0">
            <a:solidFill>
              <a:srgbClr val="03080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FC88D-7471-44CB-85CA-821E2316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9110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0E"/>
          </a:solidFill>
          <a:ln xmlns:a="http://schemas.openxmlformats.org/drawingml/2006/main" w="0">
            <a:solidFill>
              <a:srgbClr val="03080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24442-12A9-40C2-87E3-452E6DBA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99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80E"/>
          </a:solidFill>
          <a:ln xmlns:a="http://schemas.openxmlformats.org/drawingml/2006/main" w="0">
            <a:solidFill>
              <a:srgbClr val="03080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58BF9-AFCB-4A80-98AB-D14B1519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24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三次跳跃失败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CDBAD-5ED0-43B8-A27D-5FB59842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题意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7149B-40A7-43A3-8E05-63A84AC0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812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胜负、计分、时序、存档有没有读错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F0796-3864-4039-8532-455F096E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C9259-5850-4740-85C8-EC130432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方案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9587E-DE4D-4082-91AC-C57697F9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6702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预期结果能不能由公开规则推出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ABB2A-5BF5-4005-82E9-66804125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14B47-A1A7-402D-951B-24C7A503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B3D02-6949-4AC7-9041-9BC00BB2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528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代码有没有兑现动作、状态变化和边界条件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BC096-FD0E-461D-86D4-1E172A6A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19D9F-AB72-4FFC-A817-FDA74D10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rPr>
              <a:t>判据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0214B-CACD-4C6A-A08F-E5333764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386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检查本身有没有添加题面没有写的限制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7131B0-980D-4CD8-A3F8-5353D1C2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D9A84-426B-46F9-B25C-B38CAA3F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8680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E0F"/>
          </a:solidFill>
          <a:ln xmlns:a="http://schemas.openxmlformats.org/drawingml/2006/main" w="0">
            <a:solidFill>
              <a:srgbClr val="0B0E0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DA59F6-70E8-4714-8C61-30E8E7CA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42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分别记录：浏览器第几次操作首错｜方案第几步先失真｜相关代码在哪次写入</a:t>
            </a:r>
          </a:p>
        </p:txBody>
      </p:sp>
    </p:spTree>
    <p:extLst>
      <p:ext uri="{BB962C8B-B14F-4D97-AF65-F5344CB8AC3E}">
        <p14:creationId xmlns:p14="http://schemas.microsoft.com/office/powerpoint/2010/main" val="13418897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B6E63-AA7B-42BD-B5E6-2BC26C16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十五题结果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C7950-BEB1-458E-89C3-BFB80521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F9E8B-336D-41CD-A129-A0F4E4BA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混元更常判“有问题”或“无法确定”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159a95bf9b475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C62F7-5CC1-47EB-B5EB-0A2B037B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4/11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ABFE3-4A12-4AB2-A884-FD11EF9C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最终游戏判正确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95DF1-7B1F-4C0A-9FC4-D40FF2A0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290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6/12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97F9B-DE4F-4FDE-A7D7-B3B394FA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14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公开方案判成立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FEA8D-F897-45E1-AF31-DA65DC89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14875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6782B-8262-422D-B3B7-4888D613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0537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声明文件合规 8/15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AA70D-112A-4DD4-964E-0C85B616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3435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原始游玩路径终局通过 14/47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261EC-112E-4B2E-B047-E19EDD16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rPr>
              <a:t>这些是混元意见与执行记录，不等于独立正确率。</a:t>
            </a:r>
          </a:p>
        </p:txBody>
      </p:sp>
    </p:spTree>
    <p:extLst>
      <p:ext uri="{BB962C8B-B14F-4D97-AF65-F5344CB8AC3E}">
        <p14:creationId xmlns:p14="http://schemas.microsoft.com/office/powerpoint/2010/main" val="12595386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FEF9E-8C99-4DB7-8CD1-0A4B80E2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难度分层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09674-4FBC-464D-A50C-F911155A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4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FEE48-CECD-40F3-952A-E70F40F1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十五题还不足以判断难度拐点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19125" y="1857375"/>
          <a:ext xmlns:a="http://schemas.openxmlformats.org/drawingml/2006/main" cx="7667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adc57ff8dd45c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8DB16-4E0C-482B-8652-C77306C6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52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1/3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3B071-FE16-45C6-807A-369111D6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0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C0BD"/>
                </a:solidFill>
                <a:latin typeface="Arial Unicode MS"/>
                <a:ea typeface="Arial Unicode MS"/>
                <a:cs typeface="Arial Unicode MS"/>
              </a:rPr>
              <a:t>基础方案判成立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A839B-49BD-409E-8A16-8EE70C9C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52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2/4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F4C35-3C07-4CD8-B0BF-732FE328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86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0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C0BD"/>
                </a:solidFill>
                <a:latin typeface="Arial Unicode MS"/>
                <a:ea typeface="Arial Unicode MS"/>
                <a:cs typeface="Arial Unicode MS"/>
              </a:rPr>
              <a:t>中等方案判成立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69D03-CB7C-4F5E-8B4A-91568F27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52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3/5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B019B-1649-4257-81C8-7C5B396C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05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0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C0BD"/>
                </a:solidFill>
                <a:latin typeface="Arial Unicode MS"/>
                <a:ea typeface="Arial Unicode MS"/>
                <a:cs typeface="Arial Unicode MS"/>
              </a:rPr>
              <a:t>高难方案判成立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5FB79-B9D0-4759-86CE-1A2C2763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626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CB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C4CBC8"/>
                </a:solidFill>
                <a:latin typeface="Arial Unicode MS"/>
                <a:ea typeface="Arial Unicode MS"/>
                <a:cs typeface="Arial Unicode MS"/>
              </a:rPr>
              <a:t>题量少，而且每档玩法和检查强度不同；这里只报告分层结果。</a:t>
            </a:r>
          </a:p>
        </p:txBody>
      </p:sp>
    </p:spTree>
    <p:extLst>
      <p:ext uri="{BB962C8B-B14F-4D97-AF65-F5344CB8AC3E}">
        <p14:creationId xmlns:p14="http://schemas.microsoft.com/office/powerpoint/2010/main" val="6729047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CE26A2-8A29-4194-A4AF-DB01120E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错误类型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1D08B-C967-4D0E-9AC5-77BD9056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56DB2-5F63-448C-B0A4-4ADFC8F2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最多的是“实现没有兑现方案”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86164-83D5-4B36-B9A2-9F08D12A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350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444E8-460F-447D-9492-5EC6F790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条实现不符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AB544-E4D2-41E1-AC1D-7F9E37B9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3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AAC7B-A11B-4ECA-A8AE-5F6E489F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624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错误假设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FFAB7-070F-4035-BACC-41FBAF20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3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C8AA1-18CA-408E-ABB0-6EDCA7E3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题意误读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3762375" y="1809750"/>
          <a:ext xmlns:a="http://schemas.openxmlformats.org/drawingml/2006/main" cx="7429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c8b45eb9cd4c30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FB431-CC38-472E-B3C7-F4561312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CC3"/>
          </a:solidFill>
          <a:ln xmlns:a="http://schemas.openxmlformats.org/drawingml/2006/main" w="0">
            <a:solidFill>
              <a:srgbClr val="C9CC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D1DE4-B1AF-440B-8668-4BCA8AE1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同一题可以有多条标记；这里统计的是混元复核标签，不是逐条独立证实的缺陷。</a:t>
            </a:r>
          </a:p>
        </p:txBody>
      </p:sp>
    </p:spTree>
    <p:extLst>
      <p:ext uri="{BB962C8B-B14F-4D97-AF65-F5344CB8AC3E}">
        <p14:creationId xmlns:p14="http://schemas.microsoft.com/office/powerpoint/2010/main" val="18565035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F5A79-77F7-4DB3-97D1-6D17DE0A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可复现案例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A95C6-18C1-4EA9-8640-49F28B03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4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78462-9423-456E-82FE-BB1B290A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标准 100，方案和试玩都是 200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7334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19b11eaa854fd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C5129-F4A0-44B5-AA26-2E050BC7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383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rPr>
              <a:t>第 3 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811D7-232F-48B4-A86C-3FF8E406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86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方案第一次失真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574E2-B862-49D4-B8A8-30799DC9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09925"/>
            <a:ext cx="2714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62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5CA17-7FC9-40BB-B217-ABF81558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四次输入 × 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237EC-43B2-41DC-B029-8AF04563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33825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7CF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C7CFCC"/>
                </a:solidFill>
                <a:latin typeface="Arial Unicode MS"/>
                <a:ea typeface="Arial Unicode MS"/>
                <a:cs typeface="Arial Unicode MS"/>
              </a:rPr>
              <a:t>公开标准可直接算出 100。</a:t>
            </a:r>
          </a:p>
          <a:p xmlns:a="http://schemas.openxmlformats.org/drawingml/2006/main">
            <a:pPr>
              <a:defRPr sz="1425" b="0">
                <a:solidFill>
                  <a:srgbClr val="C7CF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C7CFCC"/>
                </a:solidFill>
                <a:latin typeface="Arial Unicode MS"/>
                <a:ea typeface="Arial Unicode MS"/>
                <a:cs typeface="Arial Unicode MS"/>
              </a:rPr>
              <a:t>生成代码又额外加 100，三次浏览器试玩都复现为 200。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34F63-A305-463A-BBF4-A88C02EE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197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混元判断“过程有错”并定位到第 3 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F7ECE-7692-40BA-BB76-1732355C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3B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AB3B0"/>
                </a:solidFill>
                <a:latin typeface="Arial Unicode MS"/>
                <a:ea typeface="Arial Unicode MS"/>
                <a:cs typeface="Arial Unicode MS"/>
              </a:rPr>
              <a:t>这里只验证这一条公开计分主张，不声称整份方案都已验完。</a:t>
            </a:r>
          </a:p>
        </p:txBody>
      </p:sp>
    </p:spTree>
    <p:extLst>
      <p:ext uri="{BB962C8B-B14F-4D97-AF65-F5344CB8AC3E}">
        <p14:creationId xmlns:p14="http://schemas.microsoft.com/office/powerpoint/2010/main" val="12783462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BD6C2A-A53D-46F3-9ACC-CBBB29D5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评估器有效性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3B7FE-4118-4C6B-AEC5-BF3F1518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70A7C-1F14-4DAD-987B-48AC2805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三份已知错步，只完整命中一份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2DE27-BF09-440D-A7E8-599423A6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150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rPr>
              <a:t>1/3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464D1-B954-461D-AA56-1908C20D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76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同时检出错误并定位到已核对步骤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0A36D-CD63-44A3-A109-6DFFEDBB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8117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钥匙开门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4BB2F-E263-4057-B3C4-81CE07B0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0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标准第 1 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665F9-BD8A-4575-A9CA-A5E0B20F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02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rPr>
              <a:t>给对步骤，却判方案正确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B0C11-8A08-4777-8812-6396B9B1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1C6E5-0794-4DFB-827C-078F7C37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联机五子棋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95E91-2801-4EBF-9625-0A5E3834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标准第 4 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CC459-D459-4BD8-9568-A328C679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6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rPr>
              <a:t>判有错，却没给出步骤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8757A-AB84-46E5-9AFA-A5096765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575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BAD2B-D712-4468-A624-DA030328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3382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粒子乐队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9B9E8-E147-47D8-893F-A35FC149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52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标准第 3 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D245D-AEA7-401F-A838-C58E2485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52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B8C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5B8C14"/>
                </a:solidFill>
                <a:latin typeface="Arial Unicode MS"/>
                <a:ea typeface="Arial Unicode MS"/>
                <a:cs typeface="Arial Unicode MS"/>
              </a:rPr>
              <a:t>判有错，也给对步骤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5F3BA-A7C2-4AE8-A285-E4F64992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339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54d743223493c"/>
          <a:srcRect xmlns:a="http://schemas.openxmlformats.org/drawingml/2006/main" l="0" t="6566" r="0" b="65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895725"/>
            <a:ext cx="3143250" cy="204787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E5BB62-8A1A-467F-AED2-DABF5063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E"/>
          </a:solidFill>
          <a:ln xmlns:a="http://schemas.openxmlformats.org/drawingml/2006/main" w="0">
            <a:solidFill>
              <a:srgbClr val="2020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93C41-2C1E-4BE0-8FFB-FAAF60A4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95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另一个重要样本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24CD30-8D1D-4F25-87F9-CBB3F9CE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292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二〇四八核心玩法可通关，但方案第三步仍然有错。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68DBA-74EA-4686-978F-0F85556D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补充复核：真问题 1/1，误报 0/1。样本太少，不能估计总体误报率。</a:t>
            </a:r>
          </a:p>
        </p:txBody>
      </p:sp>
    </p:spTree>
    <p:extLst>
      <p:ext uri="{BB962C8B-B14F-4D97-AF65-F5344CB8AC3E}">
        <p14:creationId xmlns:p14="http://schemas.microsoft.com/office/powerpoint/2010/main" val="1350164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2026-09-18T09:37:48.0570000Z</dcterms:created>
  <dcterms:modified xsi:type="dcterms:W3CDTF">2026-09-18T09:37:48.0570000Z</dcterms:modified>
</coreProperties>
</file>